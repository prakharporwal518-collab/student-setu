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1580450a-7482-cdfe-0446-d356a4c4b765}">
          <p14:sldIdLst>
            <p14:sldId id="256"/>
          </p14:sldIdLst>
        </p14:section>
        <p14:section name="Problem &amp; solution" id="{5b4b0e30-d039-cb1e-cf9d-196b332a2f72}">
          <p14:sldIdLst>
            <p14:sldId id="257"/>
          </p14:sldIdLst>
        </p14:section>
        <p14:section name="Technical approach" id="{fb4c9cc6-c01a-fa3c-0c88-61d628f05c1b}">
          <p14:sldIdLst>
            <p14:sldId id="258"/>
          </p14:sldIdLst>
        </p14:section>
        <p14:section name="Impact" id="{e73d396b-93a4-f3ef-6c90-060e28551394}">
          <p14:sldIdLst>
            <p14:sldId id="259"/>
          </p14:sldIdLst>
        </p14:section>
        <p14:section name="Feasibility &amp; risk" id="{48b713af-f2b1-db51-f6a4-70fedcc40045}">
          <p14:sldIdLst>
            <p14:sldId id="260"/>
          </p14:sldIdLst>
        </p14:section>
        <p14:section name="Team" id="{63d042ec-a808-5ef1-0b00-5320cf7b6981}">
          <p14:sldIdLst>
            <p14:sldId id="261"/>
          </p14:sldIdLst>
        </p14:section>
        <p14:section name="References" id="{43a7bfff-164c-87b8-2d55-1d7fe6d7732b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Cover: Student Setu is an AI-powered curriculum-to-career bridge. Fill in Team Name, Team ID and State/UT exactly as registered on the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graduates are not job-ready, few have vocational training, teachers are stretched. Solution: Skill Bridge for students, Teacher Copilot for teachers, Bharat-first access for everyone.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Stack: React PWA on Netlify, four serverless functions, Gemini for content, Blobs for class data, HMAC-signed badges. Show the live demo and GitHub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Audience: students, teachers, vocational learners. Eight stakeholder groups connect through the platform. Benefits are social, economic, educational and institutional.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Feasibility is proven by the live prototype. Seven risks, each with a concrete mitigation already built or planned.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member names and adjust roles. Challenges show the hard problems we solved. Journey: we started as a student-life app and pivoted to learning-first after re-reading the problem statement.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statistics on slide 2 come from these sources. Scan the QR codes for the live demo and the source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SC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ack for Social Cause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109728"/>
            <a:ext cx="1755648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7024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@HSC submission</a:t>
            </a: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2103120" y="201168"/>
            <a:ext cx="80010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SC 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ack for Social Cause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109728"/>
            <a:ext cx="1755648" cy="8686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hyperlink" Target="https://studentsetuconnect.netlify.app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5" Type="http://schemas.openxmlformats.org/officeDocument/2006/relationships/image" Target="../media/image-1-4.png"/><Relationship Id="rId6" Type="http://schemas.openxmlformats.org/officeDocument/2006/relationships/image" Target="../media/image-1-5.png"/><Relationship Id="rId7" Type="http://schemas.openxmlformats.org/officeDocument/2006/relationships/image" Target="../media/image-1-6.png"/><Relationship Id="rId8" Type="http://schemas.openxmlformats.org/officeDocument/2006/relationships/image" Target="../media/image-1-7.png"/><Relationship Id="rId9" Type="http://schemas.openxmlformats.org/officeDocument/2006/relationships/image" Target="../media/image-1-8.png"/><Relationship Id="rId10" Type="http://schemas.openxmlformats.org/officeDocument/2006/relationships/image" Target="../media/image-1-9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1" Type="http://schemas.openxmlformats.org/officeDocument/2006/relationships/hyperlink" Target="https://github.com/prakharporwal518-collab/Student-Setu" TargetMode="External"/><Relationship Id="rId13" Type="http://schemas.openxmlformats.org/officeDocument/2006/relationships/hyperlink" Target="https://studentsetuconnect.netlify.app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2" Type="http://schemas.openxmlformats.org/officeDocument/2006/relationships/image" Target="../media/image-3-11.png"/><Relationship Id="rId14" Type="http://schemas.openxmlformats.org/officeDocument/2006/relationships/image" Target="../media/image-3-12.png"/><Relationship Id="rId15" Type="http://schemas.openxmlformats.org/officeDocument/2006/relationships/image" Target="../media/image-3-13.pn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taggd.in/industry-reports/isr/india-skills-report-2025/" TargetMode="External"/><Relationship Id="rId3" Type="http://schemas.openxmlformats.org/officeDocument/2006/relationships/hyperlink" Target="https://aishe.gov.in/" TargetMode="External"/><Relationship Id="rId4" Type="http://schemas.openxmlformats.org/officeDocument/2006/relationships/hyperlink" Target="https://mospi.gov.in/" TargetMode="External"/><Relationship Id="rId5" Type="http://schemas.openxmlformats.org/officeDocument/2006/relationships/hyperlink" Target="https://www.education.gov.in/sites/upload_files/mhrd/files/NEP_Final_English_0.pdf" TargetMode="External"/><Relationship Id="rId7" Type="http://schemas.openxmlformats.org/officeDocument/2006/relationships/hyperlink" Target="https://www.skillindiadigital.gov.in/" TargetMode="External"/><Relationship Id="rId8" Type="http://schemas.openxmlformats.org/officeDocument/2006/relationships/hyperlink" Target="https://www.apprenticeshipindia.gov.in/" TargetMode="External"/><Relationship Id="rId9" Type="http://schemas.openxmlformats.org/officeDocument/2006/relationships/hyperlink" Target="https://swayam.gov.in/" TargetMode="External"/><Relationship Id="rId10" Type="http://schemas.openxmlformats.org/officeDocument/2006/relationships/hyperlink" Target="https://scholarships.gov.in/" TargetMode="External"/><Relationship Id="rId12" Type="http://schemas.openxmlformats.org/officeDocument/2006/relationships/hyperlink" Target="https://ai.google.dev/" TargetMode="External"/><Relationship Id="rId13" Type="http://schemas.openxmlformats.org/officeDocument/2006/relationships/hyperlink" Target="https://docs.netlify.com/" TargetMode="External"/><Relationship Id="rId14" Type="http://schemas.openxmlformats.org/officeDocument/2006/relationships/hyperlink" Target="https://react.dev/" TargetMode="External"/><Relationship Id="rId15" Type="http://schemas.openxmlformats.org/officeDocument/2006/relationships/hyperlink" Target="https://developer.mozilla.org/" TargetMode="External"/><Relationship Id="rId17" Type="http://schemas.openxmlformats.org/officeDocument/2006/relationships/hyperlink" Target="https://studentsetuconnect.netlify.app" TargetMode="External"/><Relationship Id="rId19" Type="http://schemas.openxmlformats.org/officeDocument/2006/relationships/hyperlink" Target="https://github.com/prakharporwal518-collab/Student-Setu" TargetMode="External"/><Relationship Id="rId1" Type="http://schemas.openxmlformats.org/officeDocument/2006/relationships/image" Target="../media/image-7-1.png"/><Relationship Id="rId6" Type="http://schemas.openxmlformats.org/officeDocument/2006/relationships/image" Target="../media/image-7-2.png"/><Relationship Id="rId11" Type="http://schemas.openxmlformats.org/officeDocument/2006/relationships/image" Target="../media/image-7-3.png"/><Relationship Id="rId16" Type="http://schemas.openxmlformats.org/officeDocument/2006/relationships/image" Target="../media/image-7-4.png"/><Relationship Id="rId18" Type="http://schemas.openxmlformats.org/officeDocument/2006/relationships/image" Target="../media/image-7-5.png"/><Relationship Id="rId20" Type="http://schemas.openxmlformats.org/officeDocument/2006/relationships/image" Target="../media/image-7-6.png"/><Relationship Id="rId21" Type="http://schemas.openxmlformats.org/officeDocument/2006/relationships/image" Target="../media/image-7-7.png"/><Relationship Id="rId22" Type="http://schemas.openxmlformats.org/officeDocument/2006/relationships/image" Target="../media/image-7-8.png"/><Relationship Id="rId23" Type="http://schemas.openxmlformats.org/officeDocument/2006/relationships/slideLayout" Target="../slideLayouts/slideLayout2.xml"/><Relationship Id="rId2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 panel"/>
          <p:cNvSpPr/>
          <p:nvPr/>
        </p:nvSpPr>
        <p:spPr>
          <a:xfrm>
            <a:off x="0" y="0"/>
            <a:ext cx="5074920" cy="6858000"/>
          </a:xfrm>
          <a:prstGeom prst="rect">
            <a:avLst/>
          </a:prstGeom>
          <a:solidFill>
            <a:srgbClr val="1F2A6E"/>
          </a:solidFill>
          <a:ln w="12700">
            <a:solidFill>
              <a:srgbClr val="1F2A6E"/>
            </a:solidFill>
            <a:prstDash val="solid"/>
          </a:ln>
        </p:spPr>
      </p:sp>
      <p:sp>
        <p:nvSpPr>
          <p:cNvPr id="3" name="glow"/>
          <p:cNvSpPr/>
          <p:nvPr/>
        </p:nvSpPr>
        <p:spPr>
          <a:xfrm>
            <a:off x="2331720" y="-1143000"/>
            <a:ext cx="2651760" cy="2651760"/>
          </a:xfrm>
          <a:prstGeom prst="ellipse">
            <a:avLst/>
          </a:prstGeom>
          <a:solidFill>
            <a:srgbClr val="2B3A8C">
              <a:alpha val="70000"/>
            </a:srgbClr>
          </a:solidFill>
          <a:ln w="12700">
            <a:solidFill>
              <a:srgbClr val="2B3A8C"/>
            </a:solidFill>
            <a:prstDash val="solid"/>
          </a:ln>
        </p:spPr>
      </p:sp>
      <p:pic>
        <p:nvPicPr>
          <p:cNvPr id="4" name="site logo" descr="Student Setu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777240" cy="777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5669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 FOR SOCIAL CAUSE · EDTECH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868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 · Built for Bharat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5087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</a:t>
            </a:r>
            <a:pPr indent="0" marL="0">
              <a:buNone/>
            </a:pPr>
            <a:r>
              <a:rPr lang="en-US" sz="48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286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Students, Building Futures</a:t>
            </a:r>
            <a:endParaRPr lang="en-US" sz="1800" dirty="0"/>
          </a:p>
        </p:txBody>
      </p:sp>
      <p:sp>
        <p:nvSpPr>
          <p:cNvPr id="9" name="browser frame"/>
          <p:cNvSpPr/>
          <p:nvPr/>
        </p:nvSpPr>
        <p:spPr>
          <a:xfrm>
            <a:off x="457200" y="2926080"/>
            <a:ext cx="4206240" cy="2862072"/>
          </a:xfrm>
          <a:prstGeom prst="roundRect">
            <a:avLst>
              <a:gd name="adj" fmla="val 31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1F2A6E">
                <a:alpha val="14000"/>
              </a:srgbClr>
            </a:outerShdw>
          </a:effectLst>
        </p:spPr>
      </p:sp>
      <p:sp>
        <p:nvSpPr>
          <p:cNvPr id="10" name="browser dot"/>
          <p:cNvSpPr/>
          <p:nvPr/>
        </p:nvSpPr>
        <p:spPr>
          <a:xfrm>
            <a:off x="594360" y="3008376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browser dot"/>
          <p:cNvSpPr/>
          <p:nvPr/>
        </p:nvSpPr>
        <p:spPr>
          <a:xfrm>
            <a:off x="749808" y="3008376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browser dot"/>
          <p:cNvSpPr/>
          <p:nvPr/>
        </p:nvSpPr>
        <p:spPr>
          <a:xfrm>
            <a:off x="905256" y="3008376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143000" y="2971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studentsetuconnect.netlify.app</a:t>
            </a:r>
            <a:endParaRPr lang="en-US" sz="900" dirty="0"/>
          </a:p>
        </p:txBody>
      </p:sp>
      <p:pic>
        <p:nvPicPr>
          <p:cNvPr id="14" name="home screenshot" descr="Student Setu home p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3182112"/>
            <a:ext cx="4096512" cy="2560320"/>
          </a:xfrm>
          <a:prstGeom prst="rect">
            <a:avLst/>
          </a:prstGeom>
        </p:spPr>
      </p:pic>
      <p:pic>
        <p:nvPicPr>
          <p:cNvPr id="15" name="Globe icon" descr="Glob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99048"/>
            <a:ext cx="256032" cy="256032"/>
          </a:xfrm>
          <a:prstGeom prst="rect">
            <a:avLst/>
          </a:prstGeom>
        </p:spPr>
      </p:pic>
      <p:sp>
        <p:nvSpPr>
          <p:cNvPr id="16" name="Text 11">
            <a:hlinkClick r:id="rId4" tooltip=""/>
          </p:cNvPr>
          <p:cNvSpPr txBox="1"/>
          <p:nvPr/>
        </p:nvSpPr>
        <p:spPr>
          <a:xfrm>
            <a:off x="841248" y="60899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studentsetuconnect.netlify.app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PAGE</a:t>
            </a:r>
            <a:endParaRPr lang="en-US" sz="1200" dirty="0"/>
          </a:p>
        </p:txBody>
      </p:sp>
      <p:sp>
        <p:nvSpPr>
          <p:cNvPr id="18" name="Target circle"/>
          <p:cNvSpPr/>
          <p:nvPr/>
        </p:nvSpPr>
        <p:spPr>
          <a:xfrm>
            <a:off x="5486400" y="1207008"/>
            <a:ext cx="548640" cy="548640"/>
          </a:xfrm>
          <a:prstGeom prst="ellipse">
            <a:avLst/>
          </a:prstGeom>
          <a:solidFill>
            <a:srgbClr val="1F2A6E"/>
          </a:solidFill>
          <a:ln w="12700">
            <a:solidFill>
              <a:srgbClr val="1F2A6E"/>
            </a:solidFill>
            <a:prstDash val="solid"/>
          </a:ln>
        </p:spPr>
      </p:sp>
      <p:pic>
        <p:nvPicPr>
          <p:cNvPr id="19" name="Target icon" descr="Target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8074" y="1338682"/>
            <a:ext cx="285293" cy="285293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217920" y="118872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/ CONCEPT TITLE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6217920" y="1435608"/>
            <a:ext cx="5577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Setu — AI-powered Curriculum-to-Career Bridge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skilling for students, an AI copilot for teachers and vocational training in Hindi — built to work on low-bandwidth phones across Bharat.</a:t>
            </a:r>
            <a:endParaRPr lang="en-US" sz="1400" dirty="0"/>
          </a:p>
        </p:txBody>
      </p:sp>
      <p:sp>
        <p:nvSpPr>
          <p:cNvPr id="22" name="Lightbulb circle"/>
          <p:cNvSpPr/>
          <p:nvPr/>
        </p:nvSpPr>
        <p:spPr>
          <a:xfrm>
            <a:off x="5486400" y="2578608"/>
            <a:ext cx="548640" cy="5486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23" name="Lightbulb icon" descr="Lightbulb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8074" y="2710282"/>
            <a:ext cx="285293" cy="285293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217920" y="256032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1100" dirty="0"/>
          </a:p>
        </p:txBody>
      </p:sp>
      <p:sp>
        <p:nvSpPr>
          <p:cNvPr id="25" name="Text 18"/>
          <p:cNvSpPr txBox="1"/>
          <p:nvPr/>
        </p:nvSpPr>
        <p:spPr>
          <a:xfrm>
            <a:off x="6217920" y="2807208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Education &amp; Skill Development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learning · personalised education · empowering teachers · vocational training</a:t>
            </a:r>
            <a:endParaRPr lang="en-US" sz="1400" dirty="0"/>
          </a:p>
        </p:txBody>
      </p:sp>
      <p:sp>
        <p:nvSpPr>
          <p:cNvPr id="26" name="Users circle"/>
          <p:cNvSpPr/>
          <p:nvPr/>
        </p:nvSpPr>
        <p:spPr>
          <a:xfrm>
            <a:off x="5486400" y="3584448"/>
            <a:ext cx="548640" cy="5486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27" name="Users icon" descr="Users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8074" y="3716122"/>
            <a:ext cx="285293" cy="285293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217920" y="35661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(REGISTERED ON PORTAL)</a:t>
            </a:r>
            <a:endParaRPr lang="en-US" sz="1100" dirty="0"/>
          </a:p>
        </p:txBody>
      </p:sp>
      <p:sp>
        <p:nvSpPr>
          <p:cNvPr id="29" name="Text 21"/>
          <p:cNvSpPr txBox="1"/>
          <p:nvPr/>
        </p:nvSpPr>
        <p:spPr>
          <a:xfrm>
            <a:off x="6217920" y="38130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‹Team Name›</a:t>
            </a:r>
            <a:endParaRPr lang="en-US" sz="1400" dirty="0"/>
          </a:p>
        </p:txBody>
      </p:sp>
      <p:sp>
        <p:nvSpPr>
          <p:cNvPr id="30" name="IdCard circle"/>
          <p:cNvSpPr/>
          <p:nvPr/>
        </p:nvSpPr>
        <p:spPr>
          <a:xfrm>
            <a:off x="5486400" y="4407408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1" name="IdCard icon" descr="IdCard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8074" y="4539082"/>
            <a:ext cx="285293" cy="285293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217920" y="43891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 (REGISTERED ON PORTAL)</a:t>
            </a:r>
            <a:endParaRPr lang="en-US" sz="1100" dirty="0"/>
          </a:p>
        </p:txBody>
      </p:sp>
      <p:sp>
        <p:nvSpPr>
          <p:cNvPr id="33" name="Text 24"/>
          <p:cNvSpPr txBox="1"/>
          <p:nvPr/>
        </p:nvSpPr>
        <p:spPr>
          <a:xfrm>
            <a:off x="6217920" y="46360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‹Team ID›</a:t>
            </a:r>
            <a:endParaRPr lang="en-US" sz="1400" dirty="0"/>
          </a:p>
        </p:txBody>
      </p:sp>
      <p:sp>
        <p:nvSpPr>
          <p:cNvPr id="34" name="MapPin circle"/>
          <p:cNvSpPr/>
          <p:nvPr/>
        </p:nvSpPr>
        <p:spPr>
          <a:xfrm>
            <a:off x="5486400" y="5230368"/>
            <a:ext cx="548640" cy="5486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35" name="MapPin icon" descr="MapPin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8074" y="5362042"/>
            <a:ext cx="285293" cy="285293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6217920" y="52120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/ UT</a:t>
            </a:r>
            <a:endParaRPr lang="en-US" sz="1100" dirty="0"/>
          </a:p>
        </p:txBody>
      </p:sp>
      <p:sp>
        <p:nvSpPr>
          <p:cNvPr id="37" name="Text 27"/>
          <p:cNvSpPr txBox="1"/>
          <p:nvPr/>
        </p:nvSpPr>
        <p:spPr>
          <a:xfrm>
            <a:off x="6217920" y="54589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‹State / UT›</a:t>
            </a:r>
            <a:endParaRPr lang="en-US" sz="1400" dirty="0"/>
          </a:p>
        </p:txBody>
      </p:sp>
      <p:sp>
        <p:nvSpPr>
          <p:cNvPr id="38" name="qr card"/>
          <p:cNvSpPr/>
          <p:nvPr/>
        </p:nvSpPr>
        <p:spPr>
          <a:xfrm>
            <a:off x="10241280" y="3703320"/>
            <a:ext cx="1508760" cy="18745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1F2A6E">
                <a:alpha val="14000"/>
              </a:srgbClr>
            </a:outerShdw>
          </a:effectLst>
        </p:spPr>
      </p:sp>
      <p:pic>
        <p:nvPicPr>
          <p:cNvPr id="39" name="qr live" descr="QR code to live demo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78440" y="3822192"/>
            <a:ext cx="1234440" cy="1234440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10241280" y="51206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for live demo</a:t>
            </a:r>
            <a:endParaRPr lang="en-US" sz="1100" dirty="0"/>
          </a:p>
        </p:txBody>
      </p:sp>
      <p:sp>
        <p:nvSpPr>
          <p:cNvPr id="41" name="Text 30"/>
          <p:cNvSpPr txBox="1"/>
          <p:nvPr/>
        </p:nvSpPr>
        <p:spPr>
          <a:xfrm>
            <a:off x="658368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@HSC submission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2103120" y="201168"/>
            <a:ext cx="8001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– Proposed Solution</a:t>
            </a:r>
            <a:endParaRPr lang="en-US" sz="3200" dirty="0"/>
          </a:p>
        </p:txBody>
      </p:sp>
      <p:sp>
        <p:nvSpPr>
          <p:cNvPr id="3" name="Team name oval"/>
          <p:cNvSpPr/>
          <p:nvPr/>
        </p:nvSpPr>
        <p:spPr>
          <a:xfrm>
            <a:off x="201168" y="146304"/>
            <a:ext cx="1645920" cy="822960"/>
          </a:xfrm>
          <a:prstGeom prst="ellipse">
            <a:avLst/>
          </a:prstGeom>
          <a:solidFill>
            <a:srgbClr val="F9C08F"/>
          </a:solidFill>
          <a:ln w="9525">
            <a:solidFill>
              <a:srgbClr val="F0A868"/>
            </a:solidFill>
            <a:prstDash val="solid"/>
          </a:ln>
          <a:effectLst>
            <a:outerShdw sx="100000" sy="100000" kx="0" ky="0" algn="bl" rotWithShape="0" blurRad="127000" dist="25400" dir="5400000">
              <a:srgbClr val="1F2A6E">
                <a:alpha val="14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246888" y="14630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‹Team Name›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 — EDUCATION ISN’T TURNING INTO JOBS</a:t>
            </a:r>
            <a:endParaRPr lang="en-US" sz="1200" dirty="0"/>
          </a:p>
        </p:txBody>
      </p:sp>
      <p:sp>
        <p:nvSpPr>
          <p:cNvPr id="6" name="problem stat"/>
          <p:cNvSpPr/>
          <p:nvPr/>
        </p:nvSpPr>
        <p:spPr>
          <a:xfrm>
            <a:off x="457200" y="1389888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FFF1F3"/>
          </a:solidFill>
          <a:ln w="12700">
            <a:solidFill>
              <a:srgbClr val="FFF1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4630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1463040"/>
            <a:ext cx="1490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Indian graduates are not job-ready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1762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Skills Report 2025 (54.81% employable)</a:t>
            </a:r>
            <a:endParaRPr lang="en-US" sz="1000" dirty="0"/>
          </a:p>
        </p:txBody>
      </p:sp>
      <p:sp>
        <p:nvSpPr>
          <p:cNvPr id="10" name="problem stat"/>
          <p:cNvSpPr/>
          <p:nvPr/>
        </p:nvSpPr>
        <p:spPr>
          <a:xfrm>
            <a:off x="3319272" y="1389888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FFF1F3"/>
          </a:solidFill>
          <a:ln w="12700">
            <a:solidFill>
              <a:srgbClr val="FFF1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4630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1463040"/>
            <a:ext cx="1490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Indians aged 15–59 have formal vocational training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1762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PLFS 2023-24, MoSPI</a:t>
            </a:r>
            <a:endParaRPr lang="en-US" sz="1000" dirty="0"/>
          </a:p>
        </p:txBody>
      </p:sp>
      <p:sp>
        <p:nvSpPr>
          <p:cNvPr id="14" name="problem stat"/>
          <p:cNvSpPr/>
          <p:nvPr/>
        </p:nvSpPr>
        <p:spPr>
          <a:xfrm>
            <a:off x="6181344" y="1389888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FFF1F3"/>
          </a:solidFill>
          <a:ln w="12700">
            <a:solidFill>
              <a:srgbClr val="FFF1F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91072" y="14630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27:1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7296912" y="1463040"/>
            <a:ext cx="1490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per teacher — little time for prep or personal attention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291072" y="21762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AISHE 2021-22, Ministry of Education</a:t>
            </a:r>
            <a:endParaRPr lang="en-US" sz="1000" dirty="0"/>
          </a:p>
        </p:txBody>
      </p:sp>
      <p:sp>
        <p:nvSpPr>
          <p:cNvPr id="18" name="problem stat"/>
          <p:cNvSpPr/>
          <p:nvPr/>
        </p:nvSpPr>
        <p:spPr>
          <a:xfrm>
            <a:off x="9043416" y="1389888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FFF1F3"/>
          </a:solidFill>
          <a:ln w="12700">
            <a:solidFill>
              <a:srgbClr val="FFF1F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53144" y="14630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10158984" y="1463040"/>
            <a:ext cx="1490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Web Developer job skills covered by a B.Tech syllabus, even at graduation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153144" y="21762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gap-map analysis (RGPV B.Tech)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2633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— ONE PLATFORM, THREE PILLARS</a:t>
            </a:r>
            <a:endParaRPr lang="en-US" sz="1200" dirty="0"/>
          </a:p>
        </p:txBody>
      </p:sp>
      <p:sp>
        <p:nvSpPr>
          <p:cNvPr id="23" name="pillar card"/>
          <p:cNvSpPr/>
          <p:nvPr/>
        </p:nvSpPr>
        <p:spPr>
          <a:xfrm>
            <a:off x="457200" y="292608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4" name="GraduationCap circle"/>
          <p:cNvSpPr/>
          <p:nvPr/>
        </p:nvSpPr>
        <p:spPr>
          <a:xfrm>
            <a:off x="640080" y="3063240"/>
            <a:ext cx="566928" cy="566928"/>
          </a:xfrm>
          <a:prstGeom prst="ellipse">
            <a:avLst/>
          </a:prstGeom>
          <a:solidFill>
            <a:srgbClr val="1F2A6E"/>
          </a:solidFill>
          <a:ln w="12700">
            <a:solidFill>
              <a:srgbClr val="1F2A6E"/>
            </a:solidFill>
            <a:prstDash val="solid"/>
          </a:ln>
        </p:spPr>
      </p:sp>
      <p:pic>
        <p:nvPicPr>
          <p:cNvPr id="25" name="GraduationCap icon" descr="GraduationCa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3199303"/>
            <a:ext cx="294803" cy="294803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325880" y="307238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 Skill Bridge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1325880" y="33924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students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3749040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Map: real syllabus (Course → University → Semester) vs 13 job roles × 45 skills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week-by-week plan from free courses + AI coach tips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Skill Badges: server-graded, signed, checkable by any employer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482803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Solves: skills gap · personalised education</a:t>
            </a:r>
            <a:endParaRPr lang="en-US" sz="1100" dirty="0"/>
          </a:p>
        </p:txBody>
      </p:sp>
      <p:sp>
        <p:nvSpPr>
          <p:cNvPr id="30" name="pillar card"/>
          <p:cNvSpPr/>
          <p:nvPr/>
        </p:nvSpPr>
        <p:spPr>
          <a:xfrm>
            <a:off x="4265676" y="292608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FFF4EB"/>
          </a:solidFill>
          <a:ln w="12700">
            <a:solidFill>
              <a:srgbClr val="FFF4EB"/>
            </a:solidFill>
            <a:prstDash val="solid"/>
          </a:ln>
        </p:spPr>
      </p:sp>
      <p:sp>
        <p:nvSpPr>
          <p:cNvPr id="31" name="Presentation circle"/>
          <p:cNvSpPr/>
          <p:nvPr/>
        </p:nvSpPr>
        <p:spPr>
          <a:xfrm>
            <a:off x="4448556" y="3063240"/>
            <a:ext cx="566928" cy="5669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32" name="Presentation icon" descr="Presentation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619" y="3199303"/>
            <a:ext cx="294803" cy="294803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5134356" y="307238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Copilot</a:t>
            </a:r>
            <a:endParaRPr lang="en-US" sz="1700" dirty="0"/>
          </a:p>
        </p:txBody>
      </p:sp>
      <p:sp>
        <p:nvSpPr>
          <p:cNvPr id="34" name="Text 30"/>
          <p:cNvSpPr txBox="1"/>
          <p:nvPr/>
        </p:nvSpPr>
        <p:spPr>
          <a:xfrm>
            <a:off x="5134356" y="33924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teachers</a:t>
            </a:r>
            <a:endParaRPr lang="en-US" sz="1100" dirty="0"/>
          </a:p>
        </p:txBody>
      </p:sp>
      <p:sp>
        <p:nvSpPr>
          <p:cNvPr id="35" name="Text 31"/>
          <p:cNvSpPr txBox="1"/>
          <p:nvPr/>
        </p:nvSpPr>
        <p:spPr>
          <a:xfrm>
            <a:off x="4448556" y="3749040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lesson plans &amp; question papers from the syllabus, in English or Hindi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Auto-graded class quizzes — students join with a code, no login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Weak-topic heatmap → one-click re-teach; verified teacher accounts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4448556" y="482803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Solves: empowering teachers · quality education</a:t>
            </a:r>
            <a:endParaRPr lang="en-US" sz="1100" dirty="0"/>
          </a:p>
        </p:txBody>
      </p:sp>
      <p:sp>
        <p:nvSpPr>
          <p:cNvPr id="37" name="pillar card"/>
          <p:cNvSpPr/>
          <p:nvPr/>
        </p:nvSpPr>
        <p:spPr>
          <a:xfrm>
            <a:off x="8074152" y="292608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</p:spPr>
      </p:sp>
      <p:sp>
        <p:nvSpPr>
          <p:cNvPr id="38" name="Languages circle"/>
          <p:cNvSpPr/>
          <p:nvPr/>
        </p:nvSpPr>
        <p:spPr>
          <a:xfrm>
            <a:off x="8257032" y="3063240"/>
            <a:ext cx="566928" cy="5669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39" name="Languages icon" descr="Language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3095" y="3199303"/>
            <a:ext cx="294803" cy="294803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8942832" y="307238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Bharat-first Access</a:t>
            </a:r>
            <a:endParaRPr lang="en-US" sz="1700" dirty="0"/>
          </a:p>
        </p:txBody>
      </p:sp>
      <p:sp>
        <p:nvSpPr>
          <p:cNvPr id="41" name="Text 36"/>
          <p:cNvSpPr txBox="1"/>
          <p:nvPr/>
        </p:nvSpPr>
        <p:spPr>
          <a:xfrm>
            <a:off x="8942832" y="33924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learner</a:t>
            </a:r>
            <a:endParaRPr lang="en-US" sz="1100" dirty="0"/>
          </a:p>
        </p:txBody>
      </p:sp>
      <p:sp>
        <p:nvSpPr>
          <p:cNvPr id="42" name="Text 37"/>
          <p:cNvSpPr txBox="1"/>
          <p:nvPr/>
        </p:nvSpPr>
        <p:spPr>
          <a:xfrm>
            <a:off x="8257032" y="3749040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vocational trade tracks in Hindi, linked to Skill India, Apprenticeship &amp; ITI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 mode for 2G/3G, offline installable app, listen-aloud audio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sharing, full Hindi UI; hostel &amp; tiffin finder as optional support</a:t>
            </a:r>
            <a:endParaRPr lang="en-US" sz="1100" dirty="0"/>
          </a:p>
        </p:txBody>
      </p:sp>
      <p:sp>
        <p:nvSpPr>
          <p:cNvPr id="43" name="Text 38"/>
          <p:cNvSpPr txBox="1"/>
          <p:nvPr/>
        </p:nvSpPr>
        <p:spPr>
          <a:xfrm>
            <a:off x="8257032" y="482803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Solves: remote learning · vocational training</a:t>
            </a:r>
            <a:endParaRPr lang="en-US" sz="1100" dirty="0"/>
          </a:p>
        </p:txBody>
      </p:sp>
      <p:sp>
        <p:nvSpPr>
          <p:cNvPr id="44" name="Text 39"/>
          <p:cNvSpPr txBox="1"/>
          <p:nvPr/>
        </p:nvSpPr>
        <p:spPr>
          <a:xfrm>
            <a:off x="457200" y="5285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UNIQUENESS</a:t>
            </a:r>
            <a:endParaRPr lang="en-US" sz="1200" dirty="0"/>
          </a:p>
        </p:txBody>
      </p:sp>
      <p:sp>
        <p:nvSpPr>
          <p:cNvPr id="45" name="innovation chip"/>
          <p:cNvSpPr/>
          <p:nvPr/>
        </p:nvSpPr>
        <p:spPr>
          <a:xfrm>
            <a:off x="457200" y="5577840"/>
            <a:ext cx="2697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FED7AA"/>
            </a:solidFill>
            <a:prstDash val="solid"/>
          </a:ln>
          <a:effectLst>
            <a:outerShdw sx="100000" sy="100000" kx="0" ky="0" algn="bl" rotWithShape="0" blurRad="127000" dist="25400" dir="5400000">
              <a:srgbClr val="1F2A6E">
                <a:alpha val="14000"/>
              </a:srgbClr>
            </a:outerShdw>
          </a:effectLst>
        </p:spPr>
      </p:sp>
      <p:sp>
        <p:nvSpPr>
          <p:cNvPr id="46" name="Route circle"/>
          <p:cNvSpPr/>
          <p:nvPr/>
        </p:nvSpPr>
        <p:spPr>
          <a:xfrm>
            <a:off x="566928" y="5678424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47" name="Route icon" descr="Rout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5788152"/>
            <a:ext cx="237744" cy="237744"/>
          </a:xfrm>
          <a:prstGeom prst="rect">
            <a:avLst/>
          </a:prstGeom>
        </p:spPr>
      </p:pic>
      <p:sp>
        <p:nvSpPr>
          <p:cNvPr id="48" name="Text 42"/>
          <p:cNvSpPr txBox="1"/>
          <p:nvPr/>
        </p:nvSpPr>
        <p:spPr>
          <a:xfrm>
            <a:off x="1115568" y="5614416"/>
            <a:ext cx="1965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Syllabus-mapped gap map, semester by semester</a:t>
            </a:r>
            <a:endParaRPr lang="en-US" sz="1100" dirty="0"/>
          </a:p>
        </p:txBody>
      </p:sp>
      <p:sp>
        <p:nvSpPr>
          <p:cNvPr id="49" name="innovation chip"/>
          <p:cNvSpPr/>
          <p:nvPr/>
        </p:nvSpPr>
        <p:spPr>
          <a:xfrm>
            <a:off x="3319272" y="5577840"/>
            <a:ext cx="2697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FED7AA"/>
            </a:solidFill>
            <a:prstDash val="solid"/>
          </a:ln>
          <a:effectLst>
            <a:outerShdw sx="100000" sy="100000" kx="0" ky="0" algn="bl" rotWithShape="0" blurRad="127000" dist="25400" dir="5400000">
              <a:srgbClr val="1F2A6E">
                <a:alpha val="14000"/>
              </a:srgbClr>
            </a:outerShdw>
          </a:effectLst>
        </p:spPr>
      </p:sp>
      <p:sp>
        <p:nvSpPr>
          <p:cNvPr id="50" name="ShieldCheck circle"/>
          <p:cNvSpPr/>
          <p:nvPr/>
        </p:nvSpPr>
        <p:spPr>
          <a:xfrm>
            <a:off x="3429000" y="5678424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51" name="ShieldCheck icon" descr="ShieldCheck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8728" y="5788152"/>
            <a:ext cx="237744" cy="237744"/>
          </a:xfrm>
          <a:prstGeom prst="rect">
            <a:avLst/>
          </a:prstGeom>
        </p:spPr>
      </p:pic>
      <p:sp>
        <p:nvSpPr>
          <p:cNvPr id="52" name="Text 45"/>
          <p:cNvSpPr txBox="1"/>
          <p:nvPr/>
        </p:nvSpPr>
        <p:spPr>
          <a:xfrm>
            <a:off x="3977640" y="5614416"/>
            <a:ext cx="1965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 badges: answers never reach the browser</a:t>
            </a:r>
            <a:endParaRPr lang="en-US" sz="1100" dirty="0"/>
          </a:p>
        </p:txBody>
      </p:sp>
      <p:sp>
        <p:nvSpPr>
          <p:cNvPr id="53" name="innovation chip"/>
          <p:cNvSpPr/>
          <p:nvPr/>
        </p:nvSpPr>
        <p:spPr>
          <a:xfrm>
            <a:off x="6181344" y="5577840"/>
            <a:ext cx="2697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FED7AA"/>
            </a:solidFill>
            <a:prstDash val="solid"/>
          </a:ln>
          <a:effectLst>
            <a:outerShdw sx="100000" sy="100000" kx="0" ky="0" algn="bl" rotWithShape="0" blurRad="127000" dist="25400" dir="5400000">
              <a:srgbClr val="1F2A6E">
                <a:alpha val="14000"/>
              </a:srgbClr>
            </a:outerShdw>
          </a:effectLst>
        </p:spPr>
      </p:sp>
      <p:sp>
        <p:nvSpPr>
          <p:cNvPr id="54" name="RefreshCw circle"/>
          <p:cNvSpPr/>
          <p:nvPr/>
        </p:nvSpPr>
        <p:spPr>
          <a:xfrm>
            <a:off x="6291072" y="5678424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55" name="RefreshCw icon" descr="RefreshCw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5788152"/>
            <a:ext cx="237744" cy="237744"/>
          </a:xfrm>
          <a:prstGeom prst="rect">
            <a:avLst/>
          </a:prstGeom>
        </p:spPr>
      </p:pic>
      <p:sp>
        <p:nvSpPr>
          <p:cNvPr id="56" name="Text 48"/>
          <p:cNvSpPr txBox="1"/>
          <p:nvPr/>
        </p:nvSpPr>
        <p:spPr>
          <a:xfrm>
            <a:off x="6839712" y="5614416"/>
            <a:ext cx="1965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teaching loop: quiz → heatmap → re-teach</a:t>
            </a:r>
            <a:endParaRPr lang="en-US" sz="1100" dirty="0"/>
          </a:p>
        </p:txBody>
      </p:sp>
      <p:sp>
        <p:nvSpPr>
          <p:cNvPr id="57" name="innovation chip"/>
          <p:cNvSpPr/>
          <p:nvPr/>
        </p:nvSpPr>
        <p:spPr>
          <a:xfrm>
            <a:off x="9043416" y="5577840"/>
            <a:ext cx="2697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FED7AA"/>
            </a:solidFill>
            <a:prstDash val="solid"/>
          </a:ln>
          <a:effectLst>
            <a:outerShdw sx="100000" sy="100000" kx="0" ky="0" algn="bl" rotWithShape="0" blurRad="127000" dist="25400" dir="5400000">
              <a:srgbClr val="1F2A6E">
                <a:alpha val="14000"/>
              </a:srgbClr>
            </a:outerShdw>
          </a:effectLst>
        </p:spPr>
      </p:sp>
      <p:sp>
        <p:nvSpPr>
          <p:cNvPr id="58" name="WifiOff circle"/>
          <p:cNvSpPr/>
          <p:nvPr/>
        </p:nvSpPr>
        <p:spPr>
          <a:xfrm>
            <a:off x="9153144" y="5678424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59" name="WifiOff icon" descr="WifiOff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2872" y="5788152"/>
            <a:ext cx="237744" cy="237744"/>
          </a:xfrm>
          <a:prstGeom prst="rect">
            <a:avLst/>
          </a:prstGeom>
        </p:spPr>
      </p:pic>
      <p:sp>
        <p:nvSpPr>
          <p:cNvPr id="60" name="Text 51"/>
          <p:cNvSpPr txBox="1"/>
          <p:nvPr/>
        </p:nvSpPr>
        <p:spPr>
          <a:xfrm>
            <a:off x="9701784" y="5614416"/>
            <a:ext cx="1965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AI &amp; offline: templates + PWA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2103120" y="201168"/>
            <a:ext cx="8001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3200" dirty="0"/>
          </a:p>
        </p:txBody>
      </p:sp>
      <p:sp>
        <p:nvSpPr>
          <p:cNvPr id="3" name="Team name oval"/>
          <p:cNvSpPr/>
          <p:nvPr/>
        </p:nvSpPr>
        <p:spPr>
          <a:xfrm>
            <a:off x="201168" y="146304"/>
            <a:ext cx="1645920" cy="822960"/>
          </a:xfrm>
          <a:prstGeom prst="ellipse">
            <a:avLst/>
          </a:prstGeom>
          <a:solidFill>
            <a:srgbClr val="F9C08F"/>
          </a:solidFill>
          <a:ln w="9525">
            <a:solidFill>
              <a:srgbClr val="F0A868"/>
            </a:solidFill>
            <a:prstDash val="solid"/>
          </a:ln>
          <a:effectLst>
            <a:outerShdw sx="100000" sy="100000" kx="0" ky="0" algn="bl" rotWithShape="0" blurRad="127000" dist="25400" dir="5400000">
              <a:srgbClr val="1F2A6E">
                <a:alpha val="14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246888" y="14630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‹Team Name›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— SERVERLESS, LOW-COST STACK</a:t>
            </a:r>
            <a:endParaRPr lang="en-US" sz="1200" dirty="0"/>
          </a:p>
        </p:txBody>
      </p:sp>
      <p:sp>
        <p:nvSpPr>
          <p:cNvPr id="6" name="stack layer"/>
          <p:cNvSpPr/>
          <p:nvPr/>
        </p:nvSpPr>
        <p:spPr>
          <a:xfrm>
            <a:off x="457200" y="1389888"/>
            <a:ext cx="5577840" cy="731520"/>
          </a:xfrm>
          <a:prstGeom prst="round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7" name="Smartphone circle"/>
          <p:cNvSpPr/>
          <p:nvPr/>
        </p:nvSpPr>
        <p:spPr>
          <a:xfrm>
            <a:off x="566928" y="1517904"/>
            <a:ext cx="475488" cy="47548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8" name="Smartphone icon" descr="Smartphon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045" y="1632021"/>
            <a:ext cx="247254" cy="24725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43000" y="1463040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(PWA)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2606040" y="1463040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Vite 6 · Tailwind CSS · Framer Motion · React Router · Service Worker · Web Speech API</a:t>
            </a:r>
            <a:endParaRPr lang="en-US" sz="1100" dirty="0"/>
          </a:p>
        </p:txBody>
      </p:sp>
      <p:sp>
        <p:nvSpPr>
          <p:cNvPr id="11" name="flow arrow"/>
          <p:cNvSpPr/>
          <p:nvPr/>
        </p:nvSpPr>
        <p:spPr>
          <a:xfrm>
            <a:off x="3136392" y="2130552"/>
            <a:ext cx="219456" cy="146304"/>
          </a:xfrm>
          <a:prstGeom prst="downArrow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12" name="stack layer"/>
          <p:cNvSpPr/>
          <p:nvPr/>
        </p:nvSpPr>
        <p:spPr>
          <a:xfrm>
            <a:off x="457200" y="2286000"/>
            <a:ext cx="5577840" cy="731520"/>
          </a:xfrm>
          <a:prstGeom prst="round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3" name="Server circle"/>
          <p:cNvSpPr/>
          <p:nvPr/>
        </p:nvSpPr>
        <p:spPr>
          <a:xfrm>
            <a:off x="566928" y="2414016"/>
            <a:ext cx="475488" cy="475488"/>
          </a:xfrm>
          <a:prstGeom prst="ellipse">
            <a:avLst/>
          </a:prstGeom>
          <a:solidFill>
            <a:srgbClr val="1F2A6E"/>
          </a:solidFill>
          <a:ln w="12700">
            <a:solidFill>
              <a:srgbClr val="1F2A6E"/>
            </a:solidFill>
            <a:prstDash val="solid"/>
          </a:ln>
        </p:spPr>
      </p:sp>
      <p:pic>
        <p:nvPicPr>
          <p:cNvPr id="14" name="Server icon" descr="Server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45" y="2528133"/>
            <a:ext cx="247254" cy="24725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43000" y="2359152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API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2606040" y="2359152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Functions (Node 20, TypeScript): copilot · badge · classroom · chat</a:t>
            </a:r>
            <a:endParaRPr lang="en-US" sz="1100" dirty="0"/>
          </a:p>
        </p:txBody>
      </p:sp>
      <p:sp>
        <p:nvSpPr>
          <p:cNvPr id="17" name="flow arrow"/>
          <p:cNvSpPr/>
          <p:nvPr/>
        </p:nvSpPr>
        <p:spPr>
          <a:xfrm>
            <a:off x="3136392" y="3026664"/>
            <a:ext cx="219456" cy="146304"/>
          </a:xfrm>
          <a:prstGeom prst="downArrow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18" name="stack base"/>
          <p:cNvSpPr/>
          <p:nvPr/>
        </p:nvSpPr>
        <p:spPr>
          <a:xfrm>
            <a:off x="457200" y="3182112"/>
            <a:ext cx="1792224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1F2A6E">
                <a:alpha val="14000"/>
              </a:srgbClr>
            </a:outerShdw>
          </a:effectLst>
        </p:spPr>
      </p:sp>
      <p:sp>
        <p:nvSpPr>
          <p:cNvPr id="19" name="Bot circle"/>
          <p:cNvSpPr/>
          <p:nvPr/>
        </p:nvSpPr>
        <p:spPr>
          <a:xfrm>
            <a:off x="548640" y="3273552"/>
            <a:ext cx="384048" cy="38404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20" name="Bot icon" descr="Bo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12" y="3365724"/>
            <a:ext cx="199705" cy="19970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005840" y="325526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364845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2.5 Flash (JSON mode)</a:t>
            </a:r>
            <a:endParaRPr lang="en-US" sz="1000" dirty="0"/>
          </a:p>
        </p:txBody>
      </p:sp>
      <p:sp>
        <p:nvSpPr>
          <p:cNvPr id="23" name="stack base"/>
          <p:cNvSpPr/>
          <p:nvPr/>
        </p:nvSpPr>
        <p:spPr>
          <a:xfrm>
            <a:off x="2350008" y="3182112"/>
            <a:ext cx="1792224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1F2A6E">
                <a:alpha val="14000"/>
              </a:srgbClr>
            </a:outerShdw>
          </a:effectLst>
        </p:spPr>
      </p:sp>
      <p:sp>
        <p:nvSpPr>
          <p:cNvPr id="24" name="Database circle"/>
          <p:cNvSpPr/>
          <p:nvPr/>
        </p:nvSpPr>
        <p:spPr>
          <a:xfrm>
            <a:off x="2441448" y="327355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5" name="Database icon" descr="Databas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3620" y="3365724"/>
            <a:ext cx="199705" cy="19970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2898648" y="325526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2441448" y="364845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Blobs (class quizzes &amp; results)</a:t>
            </a:r>
            <a:endParaRPr lang="en-US" sz="1000" dirty="0"/>
          </a:p>
        </p:txBody>
      </p:sp>
      <p:sp>
        <p:nvSpPr>
          <p:cNvPr id="28" name="stack base"/>
          <p:cNvSpPr/>
          <p:nvPr/>
        </p:nvSpPr>
        <p:spPr>
          <a:xfrm>
            <a:off x="4242816" y="3182112"/>
            <a:ext cx="1792224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1F2A6E">
                <a:alpha val="14000"/>
              </a:srgbClr>
            </a:outerShdw>
          </a:effectLst>
        </p:spPr>
      </p:sp>
      <p:sp>
        <p:nvSpPr>
          <p:cNvPr id="29" name="Lock circle"/>
          <p:cNvSpPr/>
          <p:nvPr/>
        </p:nvSpPr>
        <p:spPr>
          <a:xfrm>
            <a:off x="4334256" y="3273552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30" name="Lock icon" descr="Lock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6428" y="3365724"/>
            <a:ext cx="199705" cy="19970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4791456" y="325526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4334256" y="364845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badges, keys on server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630936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HOW IT WORKS</a:t>
            </a:r>
            <a:endParaRPr lang="en-US" sz="1200" dirty="0"/>
          </a:p>
        </p:txBody>
      </p:sp>
      <p:sp>
        <p:nvSpPr>
          <p:cNvPr id="34" name="GraduationCap circle"/>
          <p:cNvSpPr/>
          <p:nvPr/>
        </p:nvSpPr>
        <p:spPr>
          <a:xfrm>
            <a:off x="6309360" y="1389888"/>
            <a:ext cx="310896" cy="310896"/>
          </a:xfrm>
          <a:prstGeom prst="ellipse">
            <a:avLst/>
          </a:prstGeom>
          <a:solidFill>
            <a:srgbClr val="1F2A6E"/>
          </a:solidFill>
          <a:ln w="12700">
            <a:solidFill>
              <a:srgbClr val="1F2A6E"/>
            </a:solidFill>
            <a:prstDash val="solid"/>
          </a:ln>
        </p:spPr>
      </p:sp>
      <p:pic>
        <p:nvPicPr>
          <p:cNvPr id="35" name="GraduationCap icon" descr="GraduationCap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3975" y="1464503"/>
            <a:ext cx="161666" cy="161666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6693408" y="13898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journey</a:t>
            </a:r>
            <a:endParaRPr lang="en-US" sz="1200" dirty="0"/>
          </a:p>
        </p:txBody>
      </p:sp>
      <p:sp>
        <p:nvSpPr>
          <p:cNvPr id="37" name="flow step"/>
          <p:cNvSpPr/>
          <p:nvPr/>
        </p:nvSpPr>
        <p:spPr>
          <a:xfrm>
            <a:off x="6309360" y="1773936"/>
            <a:ext cx="1133856" cy="713232"/>
          </a:xfrm>
          <a:prstGeom prst="homePlate">
            <a:avLst/>
          </a:prstGeom>
          <a:solidFill>
            <a:srgbClr val="EEF2FF"/>
          </a:solidFill>
          <a:ln w="9525">
            <a:solidFill>
              <a:srgbClr val="1F2A6E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6382512" y="1792224"/>
            <a:ext cx="896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course · univ · sem</a:t>
            </a:r>
            <a:endParaRPr lang="en-US" sz="1000" dirty="0"/>
          </a:p>
        </p:txBody>
      </p:sp>
      <p:sp>
        <p:nvSpPr>
          <p:cNvPr id="39" name="flow step"/>
          <p:cNvSpPr/>
          <p:nvPr/>
        </p:nvSpPr>
        <p:spPr>
          <a:xfrm>
            <a:off x="7397496" y="1773936"/>
            <a:ext cx="1133856" cy="713232"/>
          </a:xfrm>
          <a:prstGeom prst="chevron">
            <a:avLst/>
          </a:prstGeom>
          <a:solidFill>
            <a:srgbClr val="EEF2FF"/>
          </a:solidFill>
          <a:ln w="9525">
            <a:solidFill>
              <a:srgbClr val="1F2A6E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7690104" y="1792224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map</a:t>
            </a:r>
            <a:endParaRPr lang="en-US" sz="1000" dirty="0"/>
          </a:p>
        </p:txBody>
      </p:sp>
      <p:sp>
        <p:nvSpPr>
          <p:cNvPr id="41" name="flow step"/>
          <p:cNvSpPr/>
          <p:nvPr/>
        </p:nvSpPr>
        <p:spPr>
          <a:xfrm>
            <a:off x="8485632" y="1773936"/>
            <a:ext cx="1133856" cy="713232"/>
          </a:xfrm>
          <a:prstGeom prst="chevron">
            <a:avLst/>
          </a:prstGeom>
          <a:solidFill>
            <a:srgbClr val="EEF2FF"/>
          </a:solidFill>
          <a:ln w="9525">
            <a:solidFill>
              <a:srgbClr val="1F2A6E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8778240" y="1792224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plan</a:t>
            </a:r>
            <a:endParaRPr lang="en-US" sz="1000" dirty="0"/>
          </a:p>
        </p:txBody>
      </p:sp>
      <p:sp>
        <p:nvSpPr>
          <p:cNvPr id="43" name="flow step"/>
          <p:cNvSpPr/>
          <p:nvPr/>
        </p:nvSpPr>
        <p:spPr>
          <a:xfrm>
            <a:off x="9573768" y="1773936"/>
            <a:ext cx="1133856" cy="713232"/>
          </a:xfrm>
          <a:prstGeom prst="chevron">
            <a:avLst/>
          </a:prstGeom>
          <a:solidFill>
            <a:srgbClr val="EEF2FF"/>
          </a:solidFill>
          <a:ln w="9525">
            <a:solidFill>
              <a:srgbClr val="1F2A6E"/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9866376" y="1792224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Server-graded test</a:t>
            </a:r>
            <a:endParaRPr lang="en-US" sz="1000" dirty="0"/>
          </a:p>
        </p:txBody>
      </p:sp>
      <p:sp>
        <p:nvSpPr>
          <p:cNvPr id="45" name="flow step"/>
          <p:cNvSpPr/>
          <p:nvPr/>
        </p:nvSpPr>
        <p:spPr>
          <a:xfrm>
            <a:off x="10661904" y="1773936"/>
            <a:ext cx="1133856" cy="713232"/>
          </a:xfrm>
          <a:prstGeom prst="chevron">
            <a:avLst/>
          </a:prstGeom>
          <a:solidFill>
            <a:srgbClr val="1F2A6E"/>
          </a:solidFill>
          <a:ln w="9525">
            <a:solidFill>
              <a:srgbClr val="1F2A6E"/>
            </a:solidFill>
            <a:prstDash val="solid"/>
          </a:ln>
        </p:spPr>
      </p:sp>
      <p:sp>
        <p:nvSpPr>
          <p:cNvPr id="46" name="Text 38"/>
          <p:cNvSpPr txBox="1"/>
          <p:nvPr/>
        </p:nvSpPr>
        <p:spPr>
          <a:xfrm>
            <a:off x="10954512" y="1792224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badge</a:t>
            </a:r>
            <a:endParaRPr lang="en-US" sz="1000" dirty="0"/>
          </a:p>
        </p:txBody>
      </p:sp>
      <p:sp>
        <p:nvSpPr>
          <p:cNvPr id="47" name="Presentation circle"/>
          <p:cNvSpPr/>
          <p:nvPr/>
        </p:nvSpPr>
        <p:spPr>
          <a:xfrm>
            <a:off x="6309360" y="2624328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48" name="Presentation icon" descr="Presentation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3975" y="2698943"/>
            <a:ext cx="161666" cy="161666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6693408" y="26243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loop</a:t>
            </a:r>
            <a:endParaRPr lang="en-US" sz="1200" dirty="0"/>
          </a:p>
        </p:txBody>
      </p:sp>
      <p:sp>
        <p:nvSpPr>
          <p:cNvPr id="50" name="flow step"/>
          <p:cNvSpPr/>
          <p:nvPr/>
        </p:nvSpPr>
        <p:spPr>
          <a:xfrm>
            <a:off x="6309360" y="3008376"/>
            <a:ext cx="1133856" cy="713232"/>
          </a:xfrm>
          <a:prstGeom prst="homePlate">
            <a:avLst/>
          </a:prstGeom>
          <a:solidFill>
            <a:srgbClr val="FFF4EB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51" name="Text 42"/>
          <p:cNvSpPr txBox="1"/>
          <p:nvPr/>
        </p:nvSpPr>
        <p:spPr>
          <a:xfrm>
            <a:off x="6382512" y="3026664"/>
            <a:ext cx="896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topic</a:t>
            </a:r>
            <a:endParaRPr lang="en-US" sz="1000" dirty="0"/>
          </a:p>
        </p:txBody>
      </p:sp>
      <p:sp>
        <p:nvSpPr>
          <p:cNvPr id="52" name="flow step"/>
          <p:cNvSpPr/>
          <p:nvPr/>
        </p:nvSpPr>
        <p:spPr>
          <a:xfrm>
            <a:off x="7397496" y="3008376"/>
            <a:ext cx="1133856" cy="713232"/>
          </a:xfrm>
          <a:prstGeom prst="chevron">
            <a:avLst/>
          </a:prstGeom>
          <a:solidFill>
            <a:srgbClr val="FFF4EB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53" name="Text 44"/>
          <p:cNvSpPr txBox="1"/>
          <p:nvPr/>
        </p:nvSpPr>
        <p:spPr>
          <a:xfrm>
            <a:off x="7690104" y="3026664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lesson, paper or quiz</a:t>
            </a:r>
            <a:endParaRPr lang="en-US" sz="1000" dirty="0"/>
          </a:p>
        </p:txBody>
      </p:sp>
      <p:sp>
        <p:nvSpPr>
          <p:cNvPr id="54" name="flow step"/>
          <p:cNvSpPr/>
          <p:nvPr/>
        </p:nvSpPr>
        <p:spPr>
          <a:xfrm>
            <a:off x="8485632" y="3008376"/>
            <a:ext cx="1133856" cy="713232"/>
          </a:xfrm>
          <a:prstGeom prst="chevron">
            <a:avLst/>
          </a:prstGeom>
          <a:solidFill>
            <a:srgbClr val="FFF4EB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55" name="Text 46"/>
          <p:cNvSpPr txBox="1"/>
          <p:nvPr/>
        </p:nvSpPr>
        <p:spPr>
          <a:xfrm>
            <a:off x="8778240" y="3026664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code on WhatsApp</a:t>
            </a:r>
            <a:endParaRPr lang="en-US" sz="1000" dirty="0"/>
          </a:p>
        </p:txBody>
      </p:sp>
      <p:sp>
        <p:nvSpPr>
          <p:cNvPr id="56" name="flow step"/>
          <p:cNvSpPr/>
          <p:nvPr/>
        </p:nvSpPr>
        <p:spPr>
          <a:xfrm>
            <a:off x="9573768" y="3008376"/>
            <a:ext cx="1133856" cy="713232"/>
          </a:xfrm>
          <a:prstGeom prst="chevron">
            <a:avLst/>
          </a:prstGeom>
          <a:solidFill>
            <a:srgbClr val="FFF4EB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57" name="Text 48"/>
          <p:cNvSpPr txBox="1"/>
          <p:nvPr/>
        </p:nvSpPr>
        <p:spPr>
          <a:xfrm>
            <a:off x="9866376" y="3026664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submit, no login</a:t>
            </a:r>
            <a:endParaRPr lang="en-US" sz="1000" dirty="0"/>
          </a:p>
        </p:txBody>
      </p:sp>
      <p:sp>
        <p:nvSpPr>
          <p:cNvPr id="58" name="flow step"/>
          <p:cNvSpPr/>
          <p:nvPr/>
        </p:nvSpPr>
        <p:spPr>
          <a:xfrm>
            <a:off x="10661904" y="3008376"/>
            <a:ext cx="1133856" cy="713232"/>
          </a:xfrm>
          <a:prstGeom prst="chevron">
            <a:avLst/>
          </a:prstGeom>
          <a:solidFill>
            <a:srgbClr val="F97316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59" name="Text 50"/>
          <p:cNvSpPr txBox="1"/>
          <p:nvPr/>
        </p:nvSpPr>
        <p:spPr>
          <a:xfrm>
            <a:off x="10954512" y="3026664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→ re-teach</a:t>
            </a:r>
            <a:endParaRPr lang="en-US" sz="1000" dirty="0"/>
          </a:p>
        </p:txBody>
      </p:sp>
      <p:sp>
        <p:nvSpPr>
          <p:cNvPr id="60" name="Text 51"/>
          <p:cNvSpPr txBox="1"/>
          <p:nvPr/>
        </p:nvSpPr>
        <p:spPr>
          <a:xfrm>
            <a:off x="6309360" y="3803904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build–test sprints · Playwright end-to-end tests · GitHub → Netlify auto-deploy</a:t>
            </a:r>
            <a:endParaRPr lang="en-US" sz="1050" dirty="0"/>
          </a:p>
        </p:txBody>
      </p:sp>
      <p:sp>
        <p:nvSpPr>
          <p:cNvPr id="61" name="Text 52"/>
          <p:cNvSpPr txBox="1"/>
          <p:nvPr/>
        </p:nvSpPr>
        <p:spPr>
          <a:xfrm>
            <a:off x="457200" y="4160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— REAL SCREENS</a:t>
            </a:r>
            <a:endParaRPr lang="en-US" sz="1200" dirty="0"/>
          </a:p>
        </p:txBody>
      </p:sp>
      <p:sp>
        <p:nvSpPr>
          <p:cNvPr id="62" name="phone bezel"/>
          <p:cNvSpPr/>
          <p:nvPr/>
        </p:nvSpPr>
        <p:spPr>
          <a:xfrm>
            <a:off x="484632" y="4443984"/>
            <a:ext cx="1097280" cy="187452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27000" dist="25400" dir="5400000">
              <a:srgbClr val="1F2A6E">
                <a:alpha val="14000"/>
              </a:srgbClr>
            </a:outerShdw>
          </a:effectLst>
        </p:spPr>
      </p:sp>
      <p:pic>
        <p:nvPicPr>
          <p:cNvPr id="63" name="phone screen" descr="Student phone view of a clas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4553712"/>
            <a:ext cx="932688" cy="1673352"/>
          </a:xfrm>
          <a:prstGeom prst="rect">
            <a:avLst/>
          </a:prstGeom>
        </p:spPr>
      </p:pic>
      <p:sp>
        <p:nvSpPr>
          <p:cNvPr id="64" name="screenshot frame"/>
          <p:cNvSpPr/>
          <p:nvPr/>
        </p:nvSpPr>
        <p:spPr>
          <a:xfrm>
            <a:off x="1737360" y="4453128"/>
            <a:ext cx="3639312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1F2A6E">
                <a:alpha val="14000"/>
              </a:srgbClr>
            </a:outerShdw>
          </a:effectLst>
        </p:spPr>
      </p:sp>
      <p:pic>
        <p:nvPicPr>
          <p:cNvPr id="65" name="screenshot gap-crop.png" descr="Skill gap map screenshot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83080" y="4498848"/>
            <a:ext cx="3547872" cy="1719072"/>
          </a:xfrm>
          <a:prstGeom prst="rect">
            <a:avLst/>
          </a:prstGeom>
        </p:spPr>
      </p:pic>
      <p:sp>
        <p:nvSpPr>
          <p:cNvPr id="66" name="Text 55"/>
          <p:cNvSpPr txBox="1"/>
          <p:nvPr/>
        </p:nvSpPr>
        <p:spPr>
          <a:xfrm>
            <a:off x="1783080" y="626364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phone: verified-teacher class · Gap map: 23% job-ready</a:t>
            </a:r>
            <a:endParaRPr lang="en-US" sz="900" dirty="0"/>
          </a:p>
        </p:txBody>
      </p:sp>
      <p:sp>
        <p:nvSpPr>
          <p:cNvPr id="67" name="link card"/>
          <p:cNvSpPr/>
          <p:nvPr/>
        </p:nvSpPr>
        <p:spPr>
          <a:xfrm>
            <a:off x="6309360" y="4206240"/>
            <a:ext cx="1764792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1F2A6E">
                <a:alpha val="14000"/>
              </a:srgbClr>
            </a:outerShdw>
          </a:effectLst>
        </p:spPr>
      </p:sp>
      <p:sp>
        <p:nvSpPr>
          <p:cNvPr id="68" name="Github circle"/>
          <p:cNvSpPr/>
          <p:nvPr/>
        </p:nvSpPr>
        <p:spPr>
          <a:xfrm>
            <a:off x="6400800" y="4297680"/>
            <a:ext cx="329184" cy="32918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69" name="Github icon" descr="Github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9804" y="4376684"/>
            <a:ext cx="171176" cy="171176"/>
          </a:xfrm>
          <a:prstGeom prst="rect">
            <a:avLst/>
          </a:prstGeom>
        </p:spPr>
      </p:pic>
      <p:sp>
        <p:nvSpPr>
          <p:cNvPr id="70" name="Text 58"/>
          <p:cNvSpPr txBox="1"/>
          <p:nvPr/>
        </p:nvSpPr>
        <p:spPr>
          <a:xfrm>
            <a:off x="6784848" y="429768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</p:txBody>
      </p:sp>
      <p:sp>
        <p:nvSpPr>
          <p:cNvPr id="71" name="Text 59">
            <a:hlinkClick r:id="rId11" tooltip=""/>
          </p:cNvPr>
          <p:cNvSpPr txBox="1"/>
          <p:nvPr/>
        </p:nvSpPr>
        <p:spPr>
          <a:xfrm>
            <a:off x="6400800" y="4663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prakharporwal518-collab/</a:t>
            </a:r>
            <a:endParaRPr lang="en-US" sz="950" dirty="0"/>
          </a:p>
          <a:p>
            <a:pPr indent="0" marL="0">
              <a:buNone/>
            </a:pPr>
            <a:r>
              <a:rPr lang="en-US" sz="95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Student-Setu</a:t>
            </a:r>
            <a:endParaRPr lang="en-US" sz="950" dirty="0"/>
          </a:p>
        </p:txBody>
      </p:sp>
      <p:sp>
        <p:nvSpPr>
          <p:cNvPr id="72" name="link card"/>
          <p:cNvSpPr/>
          <p:nvPr/>
        </p:nvSpPr>
        <p:spPr>
          <a:xfrm>
            <a:off x="8138160" y="4206240"/>
            <a:ext cx="1764792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1F2A6E">
                <a:alpha val="14000"/>
              </a:srgbClr>
            </a:outerShdw>
          </a:effectLst>
        </p:spPr>
      </p:sp>
      <p:sp>
        <p:nvSpPr>
          <p:cNvPr id="73" name="Globe circle"/>
          <p:cNvSpPr/>
          <p:nvPr/>
        </p:nvSpPr>
        <p:spPr>
          <a:xfrm>
            <a:off x="8229600" y="4297680"/>
            <a:ext cx="329184" cy="32918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74" name="Globe icon" descr="Globe ic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8604" y="4376684"/>
            <a:ext cx="171176" cy="171176"/>
          </a:xfrm>
          <a:prstGeom prst="rect">
            <a:avLst/>
          </a:prstGeom>
        </p:spPr>
      </p:pic>
      <p:sp>
        <p:nvSpPr>
          <p:cNvPr id="75" name="Text 62"/>
          <p:cNvSpPr txBox="1"/>
          <p:nvPr/>
        </p:nvSpPr>
        <p:spPr>
          <a:xfrm>
            <a:off x="8613648" y="429768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76" name="Text 63">
            <a:hlinkClick r:id="rId13" tooltip=""/>
          </p:cNvPr>
          <p:cNvSpPr txBox="1"/>
          <p:nvPr/>
        </p:nvSpPr>
        <p:spPr>
          <a:xfrm>
            <a:off x="8229600" y="4663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studentsetuconnect.netlify.app</a:t>
            </a:r>
            <a:endParaRPr lang="en-US" sz="950" dirty="0"/>
          </a:p>
        </p:txBody>
      </p:sp>
      <p:sp>
        <p:nvSpPr>
          <p:cNvPr id="77" name="link card"/>
          <p:cNvSpPr/>
          <p:nvPr/>
        </p:nvSpPr>
        <p:spPr>
          <a:xfrm>
            <a:off x="9966960" y="4206240"/>
            <a:ext cx="1764792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1F2A6E">
                <a:alpha val="14000"/>
              </a:srgbClr>
            </a:outerShdw>
          </a:effectLst>
        </p:spPr>
      </p:sp>
      <p:sp>
        <p:nvSpPr>
          <p:cNvPr id="78" name="CirclePlay circle"/>
          <p:cNvSpPr/>
          <p:nvPr/>
        </p:nvSpPr>
        <p:spPr>
          <a:xfrm>
            <a:off x="10058400" y="4297680"/>
            <a:ext cx="329184" cy="32918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79" name="CirclePlay icon" descr="CirclePlay icon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37404" y="4376684"/>
            <a:ext cx="171176" cy="171176"/>
          </a:xfrm>
          <a:prstGeom prst="rect">
            <a:avLst/>
          </a:prstGeom>
        </p:spPr>
      </p:pic>
      <p:sp>
        <p:nvSpPr>
          <p:cNvPr id="80" name="Text 66"/>
          <p:cNvSpPr txBox="1"/>
          <p:nvPr/>
        </p:nvSpPr>
        <p:spPr>
          <a:xfrm>
            <a:off x="10442448" y="429768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</a:t>
            </a:r>
            <a:endParaRPr lang="en-US" sz="1200" dirty="0"/>
          </a:p>
        </p:txBody>
      </p:sp>
      <p:sp>
        <p:nvSpPr>
          <p:cNvPr id="81" name="Text 67"/>
          <p:cNvSpPr txBox="1"/>
          <p:nvPr/>
        </p:nvSpPr>
        <p:spPr>
          <a:xfrm>
            <a:off x="10058400" y="4663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‹Add demo video link›</a:t>
            </a:r>
            <a:endParaRPr lang="en-US" sz="950" dirty="0"/>
          </a:p>
        </p:txBody>
      </p:sp>
      <p:sp>
        <p:nvSpPr>
          <p:cNvPr id="82" name="ai usage card"/>
          <p:cNvSpPr/>
          <p:nvPr/>
        </p:nvSpPr>
        <p:spPr>
          <a:xfrm>
            <a:off x="6309360" y="5138928"/>
            <a:ext cx="5422392" cy="1115568"/>
          </a:xfrm>
          <a:prstGeom prst="roundRect">
            <a:avLst>
              <a:gd name="adj" fmla="val 9836"/>
            </a:avLst>
          </a:prstGeom>
          <a:solidFill>
            <a:srgbClr val="FFF4EB"/>
          </a:solidFill>
          <a:ln w="12700">
            <a:solidFill>
              <a:srgbClr val="FFF4EB"/>
            </a:solidFill>
            <a:prstDash val="solid"/>
          </a:ln>
        </p:spPr>
      </p:sp>
      <p:sp>
        <p:nvSpPr>
          <p:cNvPr id="83" name="Sparkles circle"/>
          <p:cNvSpPr/>
          <p:nvPr/>
        </p:nvSpPr>
        <p:spPr>
          <a:xfrm>
            <a:off x="6419088" y="5230368"/>
            <a:ext cx="365760" cy="3657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84" name="Sparkles icon" descr="Sparkles icon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06870" y="5318150"/>
            <a:ext cx="190195" cy="190195"/>
          </a:xfrm>
          <a:prstGeom prst="rect">
            <a:avLst/>
          </a:prstGeom>
        </p:spPr>
      </p:pic>
      <p:sp>
        <p:nvSpPr>
          <p:cNvPr id="85" name="Text 70"/>
          <p:cNvSpPr txBox="1"/>
          <p:nvPr/>
        </p:nvSpPr>
        <p:spPr>
          <a:xfrm>
            <a:off x="6858000" y="5230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 of AI usage</a:t>
            </a:r>
            <a:endParaRPr lang="en-US" sz="1300" dirty="0"/>
          </a:p>
        </p:txBody>
      </p:sp>
      <p:sp>
        <p:nvSpPr>
          <p:cNvPr id="86" name="Text 71"/>
          <p:cNvSpPr txBox="1"/>
          <p:nvPr/>
        </p:nvSpPr>
        <p:spPr>
          <a:xfrm>
            <a:off x="6446520" y="5614416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product: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writes lesson plans, papers, quizzes, coach tips &amp; chat replies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JSON schema, key on server, “review before use”, template fallback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where trust matters: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grading &amp; badge signing are deterministic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development: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AI assistant for coding &amp; testing, reviewed by the team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2103120" y="201168"/>
            <a:ext cx="8001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Potential</a:t>
            </a:r>
            <a:endParaRPr lang="en-US" sz="3200" dirty="0"/>
          </a:p>
        </p:txBody>
      </p:sp>
      <p:sp>
        <p:nvSpPr>
          <p:cNvPr id="3" name="Team name oval"/>
          <p:cNvSpPr/>
          <p:nvPr/>
        </p:nvSpPr>
        <p:spPr>
          <a:xfrm>
            <a:off x="201168" y="146304"/>
            <a:ext cx="1645920" cy="822960"/>
          </a:xfrm>
          <a:prstGeom prst="ellipse">
            <a:avLst/>
          </a:prstGeom>
          <a:solidFill>
            <a:srgbClr val="F9C08F"/>
          </a:solidFill>
          <a:ln w="9525">
            <a:solidFill>
              <a:srgbClr val="F0A868"/>
            </a:solidFill>
            <a:prstDash val="solid"/>
          </a:ln>
          <a:effectLst>
            <a:outerShdw sx="100000" sy="100000" kx="0" ky="0" algn="bl" rotWithShape="0" blurRad="127000" dist="25400" dir="5400000">
              <a:srgbClr val="1F2A6E">
                <a:alpha val="14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246888" y="14630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‹Team Name›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IMPACT ON THE TARGET AUDIENCE</a:t>
            </a:r>
            <a:endParaRPr lang="en-US" sz="1200" dirty="0"/>
          </a:p>
        </p:txBody>
      </p:sp>
      <p:sp>
        <p:nvSpPr>
          <p:cNvPr id="6" name="audience card"/>
          <p:cNvSpPr/>
          <p:nvPr/>
        </p:nvSpPr>
        <p:spPr>
          <a:xfrm>
            <a:off x="457200" y="1389888"/>
            <a:ext cx="548640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1F2A6E">
                <a:alpha val="14000"/>
              </a:srgbClr>
            </a:outerShdw>
          </a:effectLst>
        </p:spPr>
      </p:sp>
      <p:sp>
        <p:nvSpPr>
          <p:cNvPr id="7" name="GraduationCap circle"/>
          <p:cNvSpPr/>
          <p:nvPr/>
        </p:nvSpPr>
        <p:spPr>
          <a:xfrm>
            <a:off x="585216" y="1536192"/>
            <a:ext cx="548640" cy="548640"/>
          </a:xfrm>
          <a:prstGeom prst="ellipse">
            <a:avLst/>
          </a:prstGeom>
          <a:solidFill>
            <a:srgbClr val="1F2A6E"/>
          </a:solidFill>
          <a:ln w="12700">
            <a:solidFill>
              <a:srgbClr val="1F2A6E"/>
            </a:solidFill>
            <a:prstDash val="solid"/>
          </a:ln>
        </p:spPr>
      </p:sp>
      <p:pic>
        <p:nvPicPr>
          <p:cNvPr id="8" name="GraduationCap icon" descr="GraduationCa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890" y="1667866"/>
            <a:ext cx="285293" cy="28529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80160" y="1463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400" dirty="0"/>
          </a:p>
        </p:txBody>
      </p:sp>
      <p:sp>
        <p:nvSpPr>
          <p:cNvPr id="10" name="reach tag"/>
          <p:cNvSpPr/>
          <p:nvPr/>
        </p:nvSpPr>
        <p:spPr>
          <a:xfrm>
            <a:off x="3611880" y="1481328"/>
            <a:ext cx="2194560" cy="256032"/>
          </a:xfrm>
          <a:prstGeom prst="roundRect">
            <a:avLst>
              <a:gd name="adj" fmla="val 50000"/>
            </a:avLst>
          </a:prstGeom>
          <a:solidFill>
            <a:srgbClr val="1F2A6E"/>
          </a:solidFill>
          <a:ln w="12700">
            <a:solidFill>
              <a:srgbClr val="1F2A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481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4.33 Cr in higher education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1773936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exact job-skill gap from Semester 1 · free personalised plan · skill proof employers can verify</a:t>
            </a:r>
            <a:endParaRPr lang="en-US" sz="1050" dirty="0"/>
          </a:p>
        </p:txBody>
      </p:sp>
      <p:sp>
        <p:nvSpPr>
          <p:cNvPr id="13" name="audience card"/>
          <p:cNvSpPr/>
          <p:nvPr/>
        </p:nvSpPr>
        <p:spPr>
          <a:xfrm>
            <a:off x="457200" y="2350008"/>
            <a:ext cx="548640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1F2A6E">
                <a:alpha val="14000"/>
              </a:srgbClr>
            </a:outerShdw>
          </a:effectLst>
        </p:spPr>
      </p:sp>
      <p:sp>
        <p:nvSpPr>
          <p:cNvPr id="14" name="Presentation circle"/>
          <p:cNvSpPr/>
          <p:nvPr/>
        </p:nvSpPr>
        <p:spPr>
          <a:xfrm>
            <a:off x="585216" y="2496312"/>
            <a:ext cx="548640" cy="5486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15" name="Presentation icon" descr="Presentation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890" y="2627986"/>
            <a:ext cx="285293" cy="285293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280160" y="2423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400" dirty="0"/>
          </a:p>
        </p:txBody>
      </p:sp>
      <p:sp>
        <p:nvSpPr>
          <p:cNvPr id="17" name="reach tag"/>
          <p:cNvSpPr/>
          <p:nvPr/>
        </p:nvSpPr>
        <p:spPr>
          <a:xfrm>
            <a:off x="3611880" y="2441448"/>
            <a:ext cx="2194560" cy="256032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611880" y="24414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15.98 L faculty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1280160" y="2734056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plans, papers &amp; quizzes in minutes · see what the class didn’t understand · re-teach with data</a:t>
            </a:r>
            <a:endParaRPr lang="en-US" sz="1050" dirty="0"/>
          </a:p>
        </p:txBody>
      </p:sp>
      <p:sp>
        <p:nvSpPr>
          <p:cNvPr id="20" name="audience card"/>
          <p:cNvSpPr/>
          <p:nvPr/>
        </p:nvSpPr>
        <p:spPr>
          <a:xfrm>
            <a:off x="457200" y="3310128"/>
            <a:ext cx="548640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1F2A6E">
                <a:alpha val="14000"/>
              </a:srgbClr>
            </a:outerShdw>
          </a:effectLst>
        </p:spPr>
      </p:sp>
      <p:sp>
        <p:nvSpPr>
          <p:cNvPr id="21" name="Wrench circle"/>
          <p:cNvSpPr/>
          <p:nvPr/>
        </p:nvSpPr>
        <p:spPr>
          <a:xfrm>
            <a:off x="585216" y="3456432"/>
            <a:ext cx="548640" cy="5486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2" name="Wrench icon" descr="Wrench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90" y="3588106"/>
            <a:ext cx="285293" cy="285293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280160" y="3383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Vocational learners</a:t>
            </a:r>
            <a:endParaRPr lang="en-US" sz="1400" dirty="0"/>
          </a:p>
        </p:txBody>
      </p:sp>
      <p:sp>
        <p:nvSpPr>
          <p:cNvPr id="24" name="reach tag"/>
          <p:cNvSpPr/>
          <p:nvPr/>
        </p:nvSpPr>
        <p:spPr>
          <a:xfrm>
            <a:off x="3611880" y="3401568"/>
            <a:ext cx="2194560" cy="25603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3611880" y="34015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~96% lack formal training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1280160" y="3694176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skills in Hindi on a basic phone · tests &amp; badges · links to Skill India, Apprenticeship India &amp; ITI</a:t>
            </a:r>
            <a:endParaRPr lang="en-US" sz="1050" dirty="0"/>
          </a:p>
        </p:txBody>
      </p:sp>
      <p:sp>
        <p:nvSpPr>
          <p:cNvPr id="27" name="Text 22"/>
          <p:cNvSpPr txBox="1"/>
          <p:nvPr/>
        </p:nvSpPr>
        <p:spPr>
          <a:xfrm>
            <a:off x="630936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1200" dirty="0"/>
          </a:p>
        </p:txBody>
      </p:sp>
      <p:sp>
        <p:nvSpPr>
          <p:cNvPr id="28" name="stakeholder link"/>
          <p:cNvSpPr/>
          <p:nvPr/>
        </p:nvSpPr>
        <p:spPr>
          <a:xfrm>
            <a:off x="7269480" y="1682496"/>
            <a:ext cx="1746504" cy="1170432"/>
          </a:xfrm>
          <a:prstGeom prst="line">
            <a:avLst/>
          </a:prstGeom>
          <a:noFill/>
          <a:ln w="19050">
            <a:solidFill>
              <a:srgbClr val="C7D2FE"/>
            </a:solidFill>
            <a:prstDash val="solid"/>
          </a:ln>
        </p:spPr>
      </p:sp>
      <p:sp>
        <p:nvSpPr>
          <p:cNvPr id="29" name="stakeholder link"/>
          <p:cNvSpPr/>
          <p:nvPr/>
        </p:nvSpPr>
        <p:spPr>
          <a:xfrm flipH="1">
            <a:off x="9015984" y="1682496"/>
            <a:ext cx="914" cy="1170432"/>
          </a:xfrm>
          <a:prstGeom prst="line">
            <a:avLst/>
          </a:prstGeom>
          <a:noFill/>
          <a:ln w="19050">
            <a:solidFill>
              <a:srgbClr val="C7D2FE"/>
            </a:solidFill>
            <a:prstDash val="solid"/>
          </a:ln>
        </p:spPr>
      </p:sp>
      <p:sp>
        <p:nvSpPr>
          <p:cNvPr id="30" name="stakeholder link"/>
          <p:cNvSpPr/>
          <p:nvPr/>
        </p:nvSpPr>
        <p:spPr>
          <a:xfrm flipH="1">
            <a:off x="9015984" y="1682496"/>
            <a:ext cx="1746504" cy="1170432"/>
          </a:xfrm>
          <a:prstGeom prst="line">
            <a:avLst/>
          </a:prstGeom>
          <a:noFill/>
          <a:ln w="19050">
            <a:solidFill>
              <a:srgbClr val="C7D2FE"/>
            </a:solidFill>
            <a:prstDash val="solid"/>
          </a:ln>
        </p:spPr>
      </p:sp>
      <p:sp>
        <p:nvSpPr>
          <p:cNvPr id="31" name="stakeholder link"/>
          <p:cNvSpPr/>
          <p:nvPr/>
        </p:nvSpPr>
        <p:spPr>
          <a:xfrm flipH="1">
            <a:off x="7150608" y="2852928"/>
            <a:ext cx="1865376" cy="914"/>
          </a:xfrm>
          <a:prstGeom prst="line">
            <a:avLst/>
          </a:prstGeom>
          <a:noFill/>
          <a:ln w="19050">
            <a:solidFill>
              <a:srgbClr val="C7D2FE"/>
            </a:solidFill>
            <a:prstDash val="solid"/>
          </a:ln>
        </p:spPr>
      </p:sp>
      <p:sp>
        <p:nvSpPr>
          <p:cNvPr id="32" name="stakeholder link"/>
          <p:cNvSpPr/>
          <p:nvPr/>
        </p:nvSpPr>
        <p:spPr>
          <a:xfrm>
            <a:off x="9015984" y="2852928"/>
            <a:ext cx="1865376" cy="914"/>
          </a:xfrm>
          <a:prstGeom prst="line">
            <a:avLst/>
          </a:prstGeom>
          <a:noFill/>
          <a:ln w="19050">
            <a:solidFill>
              <a:srgbClr val="C7D2FE"/>
            </a:solidFill>
            <a:prstDash val="solid"/>
          </a:ln>
        </p:spPr>
      </p:sp>
      <p:sp>
        <p:nvSpPr>
          <p:cNvPr id="33" name="stakeholder link"/>
          <p:cNvSpPr/>
          <p:nvPr/>
        </p:nvSpPr>
        <p:spPr>
          <a:xfrm flipH="1">
            <a:off x="7269480" y="2852928"/>
            <a:ext cx="1746504" cy="1170432"/>
          </a:xfrm>
          <a:prstGeom prst="line">
            <a:avLst/>
          </a:prstGeom>
          <a:noFill/>
          <a:ln w="19050">
            <a:solidFill>
              <a:srgbClr val="C7D2FE"/>
            </a:solidFill>
            <a:prstDash val="solid"/>
          </a:ln>
        </p:spPr>
      </p:sp>
      <p:sp>
        <p:nvSpPr>
          <p:cNvPr id="34" name="stakeholder link"/>
          <p:cNvSpPr/>
          <p:nvPr/>
        </p:nvSpPr>
        <p:spPr>
          <a:xfrm>
            <a:off x="9015984" y="2852928"/>
            <a:ext cx="914" cy="1170432"/>
          </a:xfrm>
          <a:prstGeom prst="line">
            <a:avLst/>
          </a:prstGeom>
          <a:noFill/>
          <a:ln w="19050">
            <a:solidFill>
              <a:srgbClr val="C7D2FE"/>
            </a:solidFill>
            <a:prstDash val="solid"/>
          </a:ln>
        </p:spPr>
      </p:sp>
      <p:sp>
        <p:nvSpPr>
          <p:cNvPr id="35" name="stakeholder link"/>
          <p:cNvSpPr/>
          <p:nvPr/>
        </p:nvSpPr>
        <p:spPr>
          <a:xfrm>
            <a:off x="9015984" y="2852928"/>
            <a:ext cx="1746504" cy="1170432"/>
          </a:xfrm>
          <a:prstGeom prst="line">
            <a:avLst/>
          </a:prstGeom>
          <a:noFill/>
          <a:ln w="19050">
            <a:solidFill>
              <a:srgbClr val="C7D2FE"/>
            </a:solidFill>
            <a:prstDash val="solid"/>
          </a:ln>
        </p:spPr>
      </p:sp>
      <p:sp>
        <p:nvSpPr>
          <p:cNvPr id="36" name="hub"/>
          <p:cNvSpPr/>
          <p:nvPr/>
        </p:nvSpPr>
        <p:spPr>
          <a:xfrm>
            <a:off x="8375904" y="2212848"/>
            <a:ext cx="1280160" cy="1280160"/>
          </a:xfrm>
          <a:prstGeom prst="ellipse">
            <a:avLst/>
          </a:prstGeom>
          <a:solidFill>
            <a:srgbClr val="1F2A6E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1F2A6E">
                <a:alpha val="14000"/>
              </a:srgbClr>
            </a:outerShdw>
          </a:effectLst>
        </p:spPr>
      </p:sp>
      <p:sp>
        <p:nvSpPr>
          <p:cNvPr id="37" name="Text 32"/>
          <p:cNvSpPr txBox="1"/>
          <p:nvPr/>
        </p:nvSpPr>
        <p:spPr>
          <a:xfrm>
            <a:off x="8375904" y="2212848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</a:t>
            </a:r>
            <a:endParaRPr lang="en-US" sz="1700" dirty="0"/>
          </a:p>
        </p:txBody>
      </p:sp>
      <p:sp>
        <p:nvSpPr>
          <p:cNvPr id="38" name="stakeholder"/>
          <p:cNvSpPr/>
          <p:nvPr/>
        </p:nvSpPr>
        <p:spPr>
          <a:xfrm>
            <a:off x="6446520" y="1417320"/>
            <a:ext cx="164592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5875">
            <a:solidFill>
              <a:srgbClr val="1F2A6E"/>
            </a:solidFill>
            <a:prstDash val="solid"/>
          </a:ln>
          <a:effectLst>
            <a:outerShdw sx="100000" sy="100000" kx="0" ky="0" algn="bl" rotWithShape="0" blurRad="127000" dist="25400" dir="5400000">
              <a:srgbClr val="1F2A6E">
                <a:alpha val="14000"/>
              </a:srgbClr>
            </a:outerShdw>
          </a:effectLst>
        </p:spPr>
      </p:sp>
      <p:sp>
        <p:nvSpPr>
          <p:cNvPr id="39" name="Text 34"/>
          <p:cNvSpPr txBox="1"/>
          <p:nvPr/>
        </p:nvSpPr>
        <p:spPr>
          <a:xfrm>
            <a:off x="6483096" y="1417320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050" dirty="0"/>
          </a:p>
        </p:txBody>
      </p:sp>
      <p:sp>
        <p:nvSpPr>
          <p:cNvPr id="40" name="stakeholder"/>
          <p:cNvSpPr/>
          <p:nvPr/>
        </p:nvSpPr>
        <p:spPr>
          <a:xfrm>
            <a:off x="8193024" y="1417320"/>
            <a:ext cx="164592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5875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25400" dir="5400000">
              <a:srgbClr val="1F2A6E">
                <a:alpha val="14000"/>
              </a:srgbClr>
            </a:outerShdw>
          </a:effectLst>
        </p:spPr>
      </p:sp>
      <p:sp>
        <p:nvSpPr>
          <p:cNvPr id="41" name="Text 36"/>
          <p:cNvSpPr txBox="1"/>
          <p:nvPr/>
        </p:nvSpPr>
        <p:spPr>
          <a:xfrm>
            <a:off x="8229600" y="1417320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050" dirty="0"/>
          </a:p>
        </p:txBody>
      </p:sp>
      <p:sp>
        <p:nvSpPr>
          <p:cNvPr id="42" name="stakeholder"/>
          <p:cNvSpPr/>
          <p:nvPr/>
        </p:nvSpPr>
        <p:spPr>
          <a:xfrm>
            <a:off x="9939528" y="1417320"/>
            <a:ext cx="164592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5875">
            <a:solidFill>
              <a:srgbClr val="4F46E5"/>
            </a:solidFill>
            <a:prstDash val="solid"/>
          </a:ln>
          <a:effectLst>
            <a:outerShdw sx="100000" sy="100000" kx="0" ky="0" algn="bl" rotWithShape="0" blurRad="127000" dist="25400" dir="5400000">
              <a:srgbClr val="1F2A6E">
                <a:alpha val="14000"/>
              </a:srgbClr>
            </a:outerShdw>
          </a:effectLst>
        </p:spPr>
      </p:sp>
      <p:sp>
        <p:nvSpPr>
          <p:cNvPr id="43" name="Text 38"/>
          <p:cNvSpPr txBox="1"/>
          <p:nvPr/>
        </p:nvSpPr>
        <p:spPr>
          <a:xfrm>
            <a:off x="9976104" y="1417320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Colleges &amp; universities</a:t>
            </a:r>
            <a:endParaRPr lang="en-US" sz="1050" dirty="0"/>
          </a:p>
        </p:txBody>
      </p:sp>
      <p:sp>
        <p:nvSpPr>
          <p:cNvPr id="44" name="stakeholder"/>
          <p:cNvSpPr/>
          <p:nvPr/>
        </p:nvSpPr>
        <p:spPr>
          <a:xfrm>
            <a:off x="6327648" y="2587752"/>
            <a:ext cx="164592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25400" dir="5400000">
              <a:srgbClr val="1F2A6E">
                <a:alpha val="14000"/>
              </a:srgbClr>
            </a:outerShdw>
          </a:effectLst>
        </p:spPr>
      </p:sp>
      <p:sp>
        <p:nvSpPr>
          <p:cNvPr id="45" name="Text 40"/>
          <p:cNvSpPr txBox="1"/>
          <p:nvPr/>
        </p:nvSpPr>
        <p:spPr>
          <a:xfrm>
            <a:off x="6364224" y="2587752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&amp; recruiters</a:t>
            </a:r>
            <a:endParaRPr lang="en-US" sz="1050" dirty="0"/>
          </a:p>
        </p:txBody>
      </p:sp>
      <p:sp>
        <p:nvSpPr>
          <p:cNvPr id="46" name="stakeholder"/>
          <p:cNvSpPr/>
          <p:nvPr/>
        </p:nvSpPr>
        <p:spPr>
          <a:xfrm>
            <a:off x="10058400" y="2587752"/>
            <a:ext cx="164592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0" dist="25400" dir="5400000">
              <a:srgbClr val="1F2A6E">
                <a:alpha val="14000"/>
              </a:srgbClr>
            </a:outerShdw>
          </a:effectLst>
        </p:spPr>
      </p:sp>
      <p:sp>
        <p:nvSpPr>
          <p:cNvPr id="47" name="Text 42"/>
          <p:cNvSpPr txBox="1"/>
          <p:nvPr/>
        </p:nvSpPr>
        <p:spPr>
          <a:xfrm>
            <a:off x="10094976" y="2587752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Govt: Skill India, NSDC, AICTE</a:t>
            </a:r>
            <a:endParaRPr lang="en-US" sz="1050" dirty="0"/>
          </a:p>
        </p:txBody>
      </p:sp>
      <p:sp>
        <p:nvSpPr>
          <p:cNvPr id="48" name="stakeholder"/>
          <p:cNvSpPr/>
          <p:nvPr/>
        </p:nvSpPr>
        <p:spPr>
          <a:xfrm>
            <a:off x="6446520" y="3758184"/>
            <a:ext cx="164592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5875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0" dist="25400" dir="5400000">
              <a:srgbClr val="1F2A6E">
                <a:alpha val="14000"/>
              </a:srgbClr>
            </a:outerShdw>
          </a:effectLst>
        </p:spPr>
      </p:sp>
      <p:sp>
        <p:nvSpPr>
          <p:cNvPr id="49" name="Text 44"/>
          <p:cNvSpPr txBox="1"/>
          <p:nvPr/>
        </p:nvSpPr>
        <p:spPr>
          <a:xfrm>
            <a:off x="6483096" y="3758184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</a:t>
            </a:r>
            <a:endParaRPr lang="en-US" sz="1050" dirty="0"/>
          </a:p>
        </p:txBody>
      </p:sp>
      <p:sp>
        <p:nvSpPr>
          <p:cNvPr id="50" name="stakeholder"/>
          <p:cNvSpPr/>
          <p:nvPr/>
        </p:nvSpPr>
        <p:spPr>
          <a:xfrm>
            <a:off x="8193024" y="3758184"/>
            <a:ext cx="164592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5875">
            <a:solidFill>
              <a:srgbClr val="4F46E5"/>
            </a:solidFill>
            <a:prstDash val="solid"/>
          </a:ln>
          <a:effectLst>
            <a:outerShdw sx="100000" sy="100000" kx="0" ky="0" algn="bl" rotWithShape="0" blurRad="127000" dist="25400" dir="5400000">
              <a:srgbClr val="1F2A6E">
                <a:alpha val="14000"/>
              </a:srgbClr>
            </a:outerShdw>
          </a:effectLst>
        </p:spPr>
      </p:sp>
      <p:sp>
        <p:nvSpPr>
          <p:cNvPr id="51" name="Text 46"/>
          <p:cNvSpPr txBox="1"/>
          <p:nvPr/>
        </p:nvSpPr>
        <p:spPr>
          <a:xfrm>
            <a:off x="8229600" y="3758184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Mentors, alumni &amp; peer tutors</a:t>
            </a:r>
            <a:endParaRPr lang="en-US" sz="1050" dirty="0"/>
          </a:p>
        </p:txBody>
      </p:sp>
      <p:sp>
        <p:nvSpPr>
          <p:cNvPr id="52" name="stakeholder"/>
          <p:cNvSpPr/>
          <p:nvPr/>
        </p:nvSpPr>
        <p:spPr>
          <a:xfrm>
            <a:off x="9939528" y="3758184"/>
            <a:ext cx="164592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5875">
            <a:solidFill>
              <a:srgbClr val="64748B"/>
            </a:solidFill>
            <a:prstDash val="solid"/>
          </a:ln>
          <a:effectLst>
            <a:outerShdw sx="100000" sy="100000" kx="0" ky="0" algn="bl" rotWithShape="0" blurRad="127000" dist="25400" dir="5400000">
              <a:srgbClr val="1F2A6E">
                <a:alpha val="14000"/>
              </a:srgbClr>
            </a:outerShdw>
          </a:effectLst>
        </p:spPr>
      </p:sp>
      <p:sp>
        <p:nvSpPr>
          <p:cNvPr id="53" name="Text 48"/>
          <p:cNvSpPr txBox="1"/>
          <p:nvPr/>
        </p:nvSpPr>
        <p:spPr>
          <a:xfrm>
            <a:off x="9976104" y="3758184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&amp; tiffin providers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457200" y="44165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THE SOLUTION</a:t>
            </a:r>
            <a:endParaRPr lang="en-US" sz="1200" dirty="0"/>
          </a:p>
        </p:txBody>
      </p:sp>
      <p:sp>
        <p:nvSpPr>
          <p:cNvPr id="55" name="benefit card"/>
          <p:cNvSpPr/>
          <p:nvPr/>
        </p:nvSpPr>
        <p:spPr>
          <a:xfrm>
            <a:off x="457200" y="4709160"/>
            <a:ext cx="2697480" cy="1536192"/>
          </a:xfrm>
          <a:prstGeom prst="roundRect">
            <a:avLst>
              <a:gd name="adj" fmla="val 7143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6" name="HeartHandshake circle"/>
          <p:cNvSpPr/>
          <p:nvPr/>
        </p:nvSpPr>
        <p:spPr>
          <a:xfrm>
            <a:off x="594360" y="4828032"/>
            <a:ext cx="438912" cy="43891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57" name="HeartHandshake icon" descr="HeartHandshak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699" y="4933371"/>
            <a:ext cx="228234" cy="228234"/>
          </a:xfrm>
          <a:prstGeom prst="rect">
            <a:avLst/>
          </a:prstGeom>
        </p:spPr>
      </p:pic>
      <p:sp>
        <p:nvSpPr>
          <p:cNvPr id="58" name="Text 52"/>
          <p:cNvSpPr txBox="1"/>
          <p:nvPr/>
        </p:nvSpPr>
        <p:spPr>
          <a:xfrm>
            <a:off x="1143000" y="482803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400" dirty="0"/>
          </a:p>
        </p:txBody>
      </p:sp>
      <p:sp>
        <p:nvSpPr>
          <p:cNvPr id="59" name="Text 53"/>
          <p:cNvSpPr txBox="1"/>
          <p:nvPr/>
        </p:nvSpPr>
        <p:spPr>
          <a:xfrm>
            <a:off x="594360" y="5358384"/>
            <a:ext cx="24505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access for rural, Hindi-medium &amp; first-generation learners; safe stay &amp; food info for migrant students</a:t>
            </a:r>
            <a:endParaRPr lang="en-US" sz="1150" dirty="0"/>
          </a:p>
        </p:txBody>
      </p:sp>
      <p:sp>
        <p:nvSpPr>
          <p:cNvPr id="60" name="benefit card"/>
          <p:cNvSpPr/>
          <p:nvPr/>
        </p:nvSpPr>
        <p:spPr>
          <a:xfrm>
            <a:off x="3319272" y="4709160"/>
            <a:ext cx="2697480" cy="1536192"/>
          </a:xfrm>
          <a:prstGeom prst="roundRect">
            <a:avLst>
              <a:gd name="adj" fmla="val 7143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1" name="IndianRupee circle"/>
          <p:cNvSpPr/>
          <p:nvPr/>
        </p:nvSpPr>
        <p:spPr>
          <a:xfrm>
            <a:off x="3456432" y="4828032"/>
            <a:ext cx="438912" cy="43891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62" name="IndianRupee icon" descr="IndianRupe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1771" y="4933371"/>
            <a:ext cx="228234" cy="228234"/>
          </a:xfrm>
          <a:prstGeom prst="rect">
            <a:avLst/>
          </a:prstGeom>
        </p:spPr>
      </p:pic>
      <p:sp>
        <p:nvSpPr>
          <p:cNvPr id="63" name="Text 56"/>
          <p:cNvSpPr txBox="1"/>
          <p:nvPr/>
        </p:nvSpPr>
        <p:spPr>
          <a:xfrm>
            <a:off x="4005072" y="482803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400" dirty="0"/>
          </a:p>
        </p:txBody>
      </p:sp>
      <p:sp>
        <p:nvSpPr>
          <p:cNvPr id="64" name="Text 57"/>
          <p:cNvSpPr txBox="1"/>
          <p:nvPr/>
        </p:nvSpPr>
        <p:spPr>
          <a:xfrm>
            <a:off x="3456432" y="5358384"/>
            <a:ext cx="24505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 for learners, free courses, verified skills → better jobs &amp; wages; saves teachers’ prep hours</a:t>
            </a:r>
            <a:endParaRPr lang="en-US" sz="1150" dirty="0"/>
          </a:p>
        </p:txBody>
      </p:sp>
      <p:sp>
        <p:nvSpPr>
          <p:cNvPr id="65" name="benefit card"/>
          <p:cNvSpPr/>
          <p:nvPr/>
        </p:nvSpPr>
        <p:spPr>
          <a:xfrm>
            <a:off x="6181344" y="4709160"/>
            <a:ext cx="2697480" cy="1536192"/>
          </a:xfrm>
          <a:prstGeom prst="roundRect">
            <a:avLst>
              <a:gd name="adj" fmla="val 7143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6" name="BookOpen circle"/>
          <p:cNvSpPr/>
          <p:nvPr/>
        </p:nvSpPr>
        <p:spPr>
          <a:xfrm>
            <a:off x="6318504" y="4828032"/>
            <a:ext cx="438912" cy="43891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67" name="BookOpen icon" descr="BookOpen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3843" y="4933371"/>
            <a:ext cx="228234" cy="228234"/>
          </a:xfrm>
          <a:prstGeom prst="rect">
            <a:avLst/>
          </a:prstGeom>
        </p:spPr>
      </p:pic>
      <p:sp>
        <p:nvSpPr>
          <p:cNvPr id="68" name="Text 60"/>
          <p:cNvSpPr txBox="1"/>
          <p:nvPr/>
        </p:nvSpPr>
        <p:spPr>
          <a:xfrm>
            <a:off x="6867144" y="482803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</a:t>
            </a:r>
            <a:endParaRPr lang="en-US" sz="1400" dirty="0"/>
          </a:p>
        </p:txBody>
      </p:sp>
      <p:sp>
        <p:nvSpPr>
          <p:cNvPr id="69" name="Text 61"/>
          <p:cNvSpPr txBox="1"/>
          <p:nvPr/>
        </p:nvSpPr>
        <p:spPr>
          <a:xfrm>
            <a:off x="6318504" y="5358384"/>
            <a:ext cx="24505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Topic-level outcome data; aligned with NEP 2020 — multilingual, vocational &amp; competency-based</a:t>
            </a:r>
            <a:endParaRPr lang="en-US" sz="1150" dirty="0"/>
          </a:p>
        </p:txBody>
      </p:sp>
      <p:sp>
        <p:nvSpPr>
          <p:cNvPr id="70" name="benefit card"/>
          <p:cNvSpPr/>
          <p:nvPr/>
        </p:nvSpPr>
        <p:spPr>
          <a:xfrm>
            <a:off x="9043416" y="4709160"/>
            <a:ext cx="2697480" cy="1536192"/>
          </a:xfrm>
          <a:prstGeom prst="roundRect">
            <a:avLst>
              <a:gd name="adj" fmla="val 7143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71" name="Building2 circle"/>
          <p:cNvSpPr/>
          <p:nvPr/>
        </p:nvSpPr>
        <p:spPr>
          <a:xfrm>
            <a:off x="9180576" y="4828032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2" name="Building2 icon" descr="Building2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5915" y="4933371"/>
            <a:ext cx="228234" cy="228234"/>
          </a:xfrm>
          <a:prstGeom prst="rect">
            <a:avLst/>
          </a:prstGeom>
        </p:spPr>
      </p:pic>
      <p:sp>
        <p:nvSpPr>
          <p:cNvPr id="73" name="Text 64"/>
          <p:cNvSpPr txBox="1"/>
          <p:nvPr/>
        </p:nvSpPr>
        <p:spPr>
          <a:xfrm>
            <a:off x="9729216" y="482803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</a:t>
            </a:r>
            <a:endParaRPr lang="en-US" sz="1400" dirty="0"/>
          </a:p>
        </p:txBody>
      </p:sp>
      <p:sp>
        <p:nvSpPr>
          <p:cNvPr id="74" name="Text 65"/>
          <p:cNvSpPr txBox="1"/>
          <p:nvPr/>
        </p:nvSpPr>
        <p:spPr>
          <a:xfrm>
            <a:off x="9180576" y="5358384"/>
            <a:ext cx="24505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Colleges see syllabus-vs-industry gaps to update curriculum; employers hire on verified skills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2103120" y="201168"/>
            <a:ext cx="8001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and Risk Analysis</a:t>
            </a:r>
            <a:endParaRPr lang="en-US" sz="3200" dirty="0"/>
          </a:p>
        </p:txBody>
      </p:sp>
      <p:sp>
        <p:nvSpPr>
          <p:cNvPr id="3" name="Team name oval"/>
          <p:cNvSpPr/>
          <p:nvPr/>
        </p:nvSpPr>
        <p:spPr>
          <a:xfrm>
            <a:off x="201168" y="146304"/>
            <a:ext cx="1645920" cy="822960"/>
          </a:xfrm>
          <a:prstGeom prst="ellipse">
            <a:avLst/>
          </a:prstGeom>
          <a:solidFill>
            <a:srgbClr val="F9C08F"/>
          </a:solidFill>
          <a:ln w="9525">
            <a:solidFill>
              <a:srgbClr val="F0A868"/>
            </a:solidFill>
            <a:prstDash val="solid"/>
          </a:ln>
          <a:effectLst>
            <a:outerShdw sx="100000" sy="100000" kx="0" ky="0" algn="bl" rotWithShape="0" blurRad="127000" dist="25400" dir="5400000">
              <a:srgbClr val="1F2A6E">
                <a:alpha val="14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246888" y="14630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‹Team Name›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— ALREADY PROVEN BY A LIVE PROTOTYPE</a:t>
            </a:r>
            <a:endParaRPr lang="en-US" sz="1200" dirty="0"/>
          </a:p>
        </p:txBody>
      </p:sp>
      <p:sp>
        <p:nvSpPr>
          <p:cNvPr id="6" name="feasibility tile"/>
          <p:cNvSpPr/>
          <p:nvPr/>
        </p:nvSpPr>
        <p:spPr>
          <a:xfrm>
            <a:off x="457200" y="1389888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</p:spPr>
      </p:sp>
      <p:sp>
        <p:nvSpPr>
          <p:cNvPr id="7" name="Cpu circle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8" name="Cpu icon" descr="Cpu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618488"/>
            <a:ext cx="237744" cy="2377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43000" y="1508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500" dirty="0"/>
          </a:p>
        </p:txBody>
      </p:sp>
      <p:pic>
        <p:nvPicPr>
          <p:cNvPr id="10" name="CircleCheck icon" descr="CircleChec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554480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94360" y="20116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 + 4 serverless functions; every flow tested end-to-end</a:t>
            </a:r>
            <a:endParaRPr lang="en-US" sz="1050" dirty="0"/>
          </a:p>
        </p:txBody>
      </p:sp>
      <p:sp>
        <p:nvSpPr>
          <p:cNvPr id="12" name="feasibility tile"/>
          <p:cNvSpPr/>
          <p:nvPr/>
        </p:nvSpPr>
        <p:spPr>
          <a:xfrm>
            <a:off x="3319272" y="1389888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</p:spPr>
      </p:sp>
      <p:sp>
        <p:nvSpPr>
          <p:cNvPr id="13" name="IndianRupee circle"/>
          <p:cNvSpPr/>
          <p:nvPr/>
        </p:nvSpPr>
        <p:spPr>
          <a:xfrm>
            <a:off x="3456432" y="1508760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4" name="IndianRupee icon" descr="IndianRupe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61848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005072" y="1508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500" dirty="0"/>
          </a:p>
        </p:txBody>
      </p:sp>
      <p:pic>
        <p:nvPicPr>
          <p:cNvPr id="16" name="CircleCheck icon" descr="CircleChe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5272" y="1554480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456432" y="20116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~₹0 at pilot scale on free tiers (Netlify, Gemini); no app-store cost</a:t>
            </a:r>
            <a:endParaRPr lang="en-US" sz="1050" dirty="0"/>
          </a:p>
        </p:txBody>
      </p:sp>
      <p:sp>
        <p:nvSpPr>
          <p:cNvPr id="18" name="feasibility tile"/>
          <p:cNvSpPr/>
          <p:nvPr/>
        </p:nvSpPr>
        <p:spPr>
          <a:xfrm>
            <a:off x="6181344" y="1389888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</p:spPr>
      </p:sp>
      <p:sp>
        <p:nvSpPr>
          <p:cNvPr id="19" name="Smartphone circle"/>
          <p:cNvSpPr/>
          <p:nvPr/>
        </p:nvSpPr>
        <p:spPr>
          <a:xfrm>
            <a:off x="6318504" y="1508760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0" name="Smartphone icon" descr="Smartphon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1618488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867144" y="1508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500" dirty="0"/>
          </a:p>
        </p:txBody>
      </p:sp>
      <p:pic>
        <p:nvPicPr>
          <p:cNvPr id="22" name="CircleCheck icon" descr="CircleCheck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344" y="1554480"/>
            <a:ext cx="329184" cy="329184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318504" y="20116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any phone browser; students need no login; English + Hindi</a:t>
            </a:r>
            <a:endParaRPr lang="en-US" sz="1050" dirty="0"/>
          </a:p>
        </p:txBody>
      </p:sp>
      <p:sp>
        <p:nvSpPr>
          <p:cNvPr id="24" name="feasibility tile"/>
          <p:cNvSpPr/>
          <p:nvPr/>
        </p:nvSpPr>
        <p:spPr>
          <a:xfrm>
            <a:off x="9043416" y="1389888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</p:spPr>
      </p:sp>
      <p:sp>
        <p:nvSpPr>
          <p:cNvPr id="25" name="TrendingUp circle"/>
          <p:cNvSpPr/>
          <p:nvPr/>
        </p:nvSpPr>
        <p:spPr>
          <a:xfrm>
            <a:off x="9180576" y="1508760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6" name="TrendingUp icon" descr="TrendingUp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0304" y="1618488"/>
            <a:ext cx="237744" cy="237744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9729216" y="1508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500" dirty="0"/>
          </a:p>
        </p:txBody>
      </p:sp>
      <p:pic>
        <p:nvPicPr>
          <p:cNvPr id="28" name="CircleCheck icon" descr="CircleCheck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29416" y="1554480"/>
            <a:ext cx="329184" cy="329184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9180576" y="20116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auto-scaling; a new university = one new syllabus file</a:t>
            </a:r>
            <a:endParaRPr lang="en-US" sz="1050" dirty="0"/>
          </a:p>
        </p:txBody>
      </p:sp>
      <p:sp>
        <p:nvSpPr>
          <p:cNvPr id="30" name="Text 20"/>
          <p:cNvSpPr txBox="1"/>
          <p:nvPr/>
        </p:nvSpPr>
        <p:spPr>
          <a:xfrm>
            <a:off x="457200" y="2697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CHALLENGES &amp; RISKS → STRATEGIES TO OVERCOME THEM</a:t>
            </a:r>
            <a:endParaRPr lang="en-US" sz="1200" dirty="0"/>
          </a:p>
        </p:txBody>
      </p:sp>
      <p:graphicFrame>
        <p:nvGraphicFramePr>
          <p:cNvPr id="6" name="ris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90088"/>
          <a:ext cx="11274552" cy="914400"/>
        </p:xfrm>
        <a:graphic>
          <a:graphicData uri="http://schemas.openxmlformats.org/drawingml/2006/table">
            <a:tbl>
              <a:tblPr/>
              <a:tblGrid>
                <a:gridCol w="3154680"/>
                <a:gridCol w="914400"/>
                <a:gridCol w="720547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/ challenge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 strategy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6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gives wrong or low-quality content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11D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“Review before use” label · teacher edits all output · strict JSON schema · template fallback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internet &amp; low-end phones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11D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 mode (no images or animations) · offline installable PWA · lazy-loaded pages · audio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 teacher accounts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verifies college + employee ID · only verified teachers can run classes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Badge cheating or forgery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Answers never sent to the browser · server grading · HMAC-SHA256 signature · public verify link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teacher adoption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free tries without login · Hindi · WhatsApp sharing · saves prep time from day 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Keeping syllabus data current at scale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structured file per university · next: university &amp; teacher uploads, college partnerships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data privacy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 join with class code + name only · no phone or email · API keys only on the server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2103120" y="201168"/>
            <a:ext cx="8001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3200" dirty="0"/>
          </a:p>
        </p:txBody>
      </p:sp>
      <p:sp>
        <p:nvSpPr>
          <p:cNvPr id="3" name="Team name oval"/>
          <p:cNvSpPr/>
          <p:nvPr/>
        </p:nvSpPr>
        <p:spPr>
          <a:xfrm>
            <a:off x="201168" y="146304"/>
            <a:ext cx="1645920" cy="822960"/>
          </a:xfrm>
          <a:prstGeom prst="ellipse">
            <a:avLst/>
          </a:prstGeom>
          <a:solidFill>
            <a:srgbClr val="F9C08F"/>
          </a:solidFill>
          <a:ln w="9525">
            <a:solidFill>
              <a:srgbClr val="F0A868"/>
            </a:solidFill>
            <a:prstDash val="solid"/>
          </a:ln>
          <a:effectLst>
            <a:outerShdw sx="100000" sy="100000" kx="0" ky="0" algn="bl" rotWithShape="0" blurRad="127000" dist="25400" dir="5400000">
              <a:srgbClr val="1F2A6E">
                <a:alpha val="14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246888" y="14630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‹Team Name›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COMPOSITION &amp; ROLES</a:t>
            </a:r>
            <a:endParaRPr lang="en-US" sz="1200" dirty="0"/>
          </a:p>
        </p:txBody>
      </p:sp>
      <p:sp>
        <p:nvSpPr>
          <p:cNvPr id="6" name="member card"/>
          <p:cNvSpPr/>
          <p:nvPr/>
        </p:nvSpPr>
        <p:spPr>
          <a:xfrm>
            <a:off x="457200" y="1389888"/>
            <a:ext cx="2697480" cy="1069848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1F2A6E">
                <a:alpha val="14000"/>
              </a:srgbClr>
            </a:outerShdw>
          </a:effectLst>
        </p:spPr>
      </p:sp>
      <p:sp>
        <p:nvSpPr>
          <p:cNvPr id="7" name="Crown circle"/>
          <p:cNvSpPr/>
          <p:nvPr/>
        </p:nvSpPr>
        <p:spPr>
          <a:xfrm>
            <a:off x="585216" y="1527048"/>
            <a:ext cx="530352" cy="530352"/>
          </a:xfrm>
          <a:prstGeom prst="ellipse">
            <a:avLst/>
          </a:prstGeom>
          <a:solidFill>
            <a:srgbClr val="1F2A6E"/>
          </a:solidFill>
          <a:ln w="12700">
            <a:solidFill>
              <a:srgbClr val="1F2A6E"/>
            </a:solidFill>
            <a:prstDash val="solid"/>
          </a:ln>
        </p:spPr>
      </p:sp>
      <p:pic>
        <p:nvPicPr>
          <p:cNvPr id="8" name="Crown icon" descr="Crow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500" y="1654332"/>
            <a:ext cx="275783" cy="27578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4996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‹Member 1›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1773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· Full-stack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85216" y="210312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serverless functions, deployment</a:t>
            </a:r>
            <a:endParaRPr lang="en-US" sz="1000" dirty="0"/>
          </a:p>
        </p:txBody>
      </p:sp>
      <p:sp>
        <p:nvSpPr>
          <p:cNvPr id="12" name="member card"/>
          <p:cNvSpPr/>
          <p:nvPr/>
        </p:nvSpPr>
        <p:spPr>
          <a:xfrm>
            <a:off x="3273552" y="1389888"/>
            <a:ext cx="2697480" cy="1069848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1F2A6E">
                <a:alpha val="14000"/>
              </a:srgbClr>
            </a:outerShdw>
          </a:effectLst>
        </p:spPr>
      </p:sp>
      <p:sp>
        <p:nvSpPr>
          <p:cNvPr id="13" name="Palette circle"/>
          <p:cNvSpPr/>
          <p:nvPr/>
        </p:nvSpPr>
        <p:spPr>
          <a:xfrm>
            <a:off x="3401568" y="1527048"/>
            <a:ext cx="530352" cy="5303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14" name="Palette icon" descr="Palett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8852" y="1654332"/>
            <a:ext cx="275783" cy="27578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050792" y="14996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‹Member 2›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4050792" y="1773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UI/UX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3401568" y="210312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screens, Hindi UI, Lite mode, accessibility</a:t>
            </a:r>
            <a:endParaRPr lang="en-US" sz="1000" dirty="0"/>
          </a:p>
        </p:txBody>
      </p:sp>
      <p:sp>
        <p:nvSpPr>
          <p:cNvPr id="18" name="member card"/>
          <p:cNvSpPr/>
          <p:nvPr/>
        </p:nvSpPr>
        <p:spPr>
          <a:xfrm>
            <a:off x="457200" y="2578608"/>
            <a:ext cx="2697480" cy="1069848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1F2A6E">
                <a:alpha val="14000"/>
              </a:srgbClr>
            </a:outerShdw>
          </a:effectLst>
        </p:spPr>
      </p:sp>
      <p:sp>
        <p:nvSpPr>
          <p:cNvPr id="19" name="Bot circle"/>
          <p:cNvSpPr/>
          <p:nvPr/>
        </p:nvSpPr>
        <p:spPr>
          <a:xfrm>
            <a:off x="585216" y="2715768"/>
            <a:ext cx="530352" cy="53035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20" name="Bot icon" descr="Bo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00" y="2843052"/>
            <a:ext cx="275783" cy="275783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234440" y="26883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‹Member 3›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1234440" y="29626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Backend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585216" y="329184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prompts, quiz grading, signed badges</a:t>
            </a:r>
            <a:endParaRPr lang="en-US" sz="1000" dirty="0"/>
          </a:p>
        </p:txBody>
      </p:sp>
      <p:sp>
        <p:nvSpPr>
          <p:cNvPr id="24" name="member card"/>
          <p:cNvSpPr/>
          <p:nvPr/>
        </p:nvSpPr>
        <p:spPr>
          <a:xfrm>
            <a:off x="3273552" y="2578608"/>
            <a:ext cx="2697480" cy="1069848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1F2A6E">
                <a:alpha val="14000"/>
              </a:srgbClr>
            </a:outerShdw>
          </a:effectLst>
        </p:spPr>
      </p:sp>
      <p:sp>
        <p:nvSpPr>
          <p:cNvPr id="25" name="Search circle"/>
          <p:cNvSpPr/>
          <p:nvPr/>
        </p:nvSpPr>
        <p:spPr>
          <a:xfrm>
            <a:off x="3401568" y="2715768"/>
            <a:ext cx="530352" cy="5303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6" name="Search icon" descr="Search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852" y="2843052"/>
            <a:ext cx="275783" cy="275783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4050792" y="26883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‹Member 4›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4050792" y="29626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Content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3401568" y="329184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Syllabus–skill mapping, vocational modules, testing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630936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WE SOLVED</a:t>
            </a:r>
            <a:endParaRPr lang="en-US" sz="1200" dirty="0"/>
          </a:p>
        </p:txBody>
      </p:sp>
      <p:sp>
        <p:nvSpPr>
          <p:cNvPr id="31" name="KeyRound circle"/>
          <p:cNvSpPr/>
          <p:nvPr/>
        </p:nvSpPr>
        <p:spPr>
          <a:xfrm>
            <a:off x="6309360" y="1417320"/>
            <a:ext cx="347472" cy="347472"/>
          </a:xfrm>
          <a:prstGeom prst="ellipse">
            <a:avLst/>
          </a:prstGeom>
          <a:solidFill>
            <a:srgbClr val="1F2A6E"/>
          </a:solidFill>
          <a:ln w="12700">
            <a:solidFill>
              <a:srgbClr val="1F2A6E"/>
            </a:solidFill>
            <a:prstDash val="solid"/>
          </a:ln>
        </p:spPr>
      </p:sp>
      <p:pic>
        <p:nvPicPr>
          <p:cNvPr id="32" name="KeyRound icon" descr="KeyRound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2753" y="1500713"/>
            <a:ext cx="180685" cy="18068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6766560" y="1389888"/>
            <a:ext cx="4983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test answers secret in a web app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grading moved to the server + signed badges</a:t>
            </a:r>
            <a:endParaRPr lang="en-US" sz="1050" dirty="0"/>
          </a:p>
        </p:txBody>
      </p:sp>
      <p:sp>
        <p:nvSpPr>
          <p:cNvPr id="34" name="Bot circle"/>
          <p:cNvSpPr/>
          <p:nvPr/>
        </p:nvSpPr>
        <p:spPr>
          <a:xfrm>
            <a:off x="6309360" y="1874520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35" name="Bot icon" descr="Bot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2753" y="1957913"/>
            <a:ext cx="180685" cy="180685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6766560" y="1847088"/>
            <a:ext cx="4983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must never break a live class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strict JSON output + ready-made templates</a:t>
            </a:r>
            <a:endParaRPr lang="en-US" sz="1050" dirty="0"/>
          </a:p>
        </p:txBody>
      </p:sp>
      <p:sp>
        <p:nvSpPr>
          <p:cNvPr id="37" name="WifiOff circle"/>
          <p:cNvSpPr/>
          <p:nvPr/>
        </p:nvSpPr>
        <p:spPr>
          <a:xfrm>
            <a:off x="6309360" y="2331720"/>
            <a:ext cx="347472" cy="347472"/>
          </a:xfrm>
          <a:prstGeom prst="ellipse">
            <a:avLst/>
          </a:prstGeom>
          <a:solidFill>
            <a:srgbClr val="1F2A6E"/>
          </a:solidFill>
          <a:ln w="12700">
            <a:solidFill>
              <a:srgbClr val="1F2A6E"/>
            </a:solidFill>
            <a:prstDash val="solid"/>
          </a:ln>
        </p:spPr>
      </p:sp>
      <p:pic>
        <p:nvPicPr>
          <p:cNvPr id="38" name="WifiOff icon" descr="WifiOff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2753" y="2415113"/>
            <a:ext cx="180685" cy="180685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766560" y="2304288"/>
            <a:ext cx="4983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on 2G/3G connections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Lite mode + offline installable app</a:t>
            </a:r>
            <a:endParaRPr lang="en-US" sz="1050" dirty="0"/>
          </a:p>
        </p:txBody>
      </p:sp>
      <p:sp>
        <p:nvSpPr>
          <p:cNvPr id="40" name="Route circle"/>
          <p:cNvSpPr/>
          <p:nvPr/>
        </p:nvSpPr>
        <p:spPr>
          <a:xfrm>
            <a:off x="6309360" y="2788920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41" name="Route icon" descr="Route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2753" y="2872313"/>
            <a:ext cx="180685" cy="180685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6766560" y="2761488"/>
            <a:ext cx="4983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syllabus to real job skills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45-skill × 13-role dataset, semester-wise</a:t>
            </a:r>
            <a:endParaRPr lang="en-US" sz="1050" dirty="0"/>
          </a:p>
        </p:txBody>
      </p:sp>
      <p:sp>
        <p:nvSpPr>
          <p:cNvPr id="43" name="UserCheck circle"/>
          <p:cNvSpPr/>
          <p:nvPr/>
        </p:nvSpPr>
        <p:spPr>
          <a:xfrm>
            <a:off x="6309360" y="3246120"/>
            <a:ext cx="347472" cy="347472"/>
          </a:xfrm>
          <a:prstGeom prst="ellipse">
            <a:avLst/>
          </a:prstGeom>
          <a:solidFill>
            <a:srgbClr val="1F2A6E"/>
          </a:solidFill>
          <a:ln w="12700">
            <a:solidFill>
              <a:srgbClr val="1F2A6E"/>
            </a:solidFill>
            <a:prstDash val="solid"/>
          </a:ln>
        </p:spPr>
      </p:sp>
      <p:pic>
        <p:nvPicPr>
          <p:cNvPr id="44" name="UserCheck icon" descr="UserCheck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2753" y="3329513"/>
            <a:ext cx="180685" cy="180685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6766560" y="3218688"/>
            <a:ext cx="4983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who is really a teacher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admin verification with college &amp; employee ID</a:t>
            </a:r>
            <a:endParaRPr lang="en-US" sz="1050" dirty="0"/>
          </a:p>
        </p:txBody>
      </p:sp>
      <p:sp>
        <p:nvSpPr>
          <p:cNvPr id="46" name="Text 35"/>
          <p:cNvSpPr txBox="1"/>
          <p:nvPr/>
        </p:nvSpPr>
        <p:spPr>
          <a:xfrm>
            <a:off x="457200" y="3931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JOURNEY</a:t>
            </a:r>
            <a:endParaRPr lang="en-US" sz="1200" dirty="0"/>
          </a:p>
        </p:txBody>
      </p:sp>
      <p:sp>
        <p:nvSpPr>
          <p:cNvPr id="47" name="timeline"/>
          <p:cNvSpPr/>
          <p:nvPr/>
        </p:nvSpPr>
        <p:spPr>
          <a:xfrm>
            <a:off x="1280160" y="4526280"/>
            <a:ext cx="9464040" cy="0"/>
          </a:xfrm>
          <a:prstGeom prst="line">
            <a:avLst/>
          </a:prstGeom>
          <a:noFill/>
          <a:ln w="38100">
            <a:solidFill>
              <a:srgbClr val="FED7AA"/>
            </a:solidFill>
            <a:prstDash val="solid"/>
          </a:ln>
        </p:spPr>
      </p:sp>
      <p:sp>
        <p:nvSpPr>
          <p:cNvPr id="48" name="milestone"/>
          <p:cNvSpPr/>
          <p:nvPr/>
        </p:nvSpPr>
        <p:spPr>
          <a:xfrm>
            <a:off x="1088136" y="4334256"/>
            <a:ext cx="384048" cy="384048"/>
          </a:xfrm>
          <a:prstGeom prst="ellipse">
            <a:avLst/>
          </a:prstGeom>
          <a:solidFill>
            <a:srgbClr val="64748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9" name="Text 38"/>
          <p:cNvSpPr txBox="1"/>
          <p:nvPr/>
        </p:nvSpPr>
        <p:spPr>
          <a:xfrm>
            <a:off x="1088136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0" name="journey card"/>
          <p:cNvSpPr/>
          <p:nvPr/>
        </p:nvSpPr>
        <p:spPr>
          <a:xfrm>
            <a:off x="457200" y="4846320"/>
            <a:ext cx="1645920" cy="1280160"/>
          </a:xfrm>
          <a:prstGeom prst="roundRect">
            <a:avLst>
              <a:gd name="adj" fmla="val 8571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1" name="Text 40"/>
          <p:cNvSpPr txBox="1"/>
          <p:nvPr/>
        </p:nvSpPr>
        <p:spPr>
          <a:xfrm>
            <a:off x="548640" y="49194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Student-life MVP</a:t>
            </a:r>
            <a:endParaRPr lang="en-US" sz="1200" dirty="0"/>
          </a:p>
        </p:txBody>
      </p:sp>
      <p:sp>
        <p:nvSpPr>
          <p:cNvPr id="52" name="Text 41"/>
          <p:cNvSpPr txBox="1"/>
          <p:nvPr/>
        </p:nvSpPr>
        <p:spPr>
          <a:xfrm>
            <a:off x="548640" y="53949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Hostels, tiffin, colleges, local connect</a:t>
            </a:r>
            <a:endParaRPr lang="en-US" sz="1150" dirty="0"/>
          </a:p>
        </p:txBody>
      </p:sp>
      <p:sp>
        <p:nvSpPr>
          <p:cNvPr id="53" name="milestone"/>
          <p:cNvSpPr/>
          <p:nvPr/>
        </p:nvSpPr>
        <p:spPr>
          <a:xfrm>
            <a:off x="2980944" y="4334256"/>
            <a:ext cx="384048" cy="384048"/>
          </a:xfrm>
          <a:prstGeom prst="ellipse">
            <a:avLst/>
          </a:prstGeom>
          <a:solidFill>
            <a:srgbClr val="64748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4" name="Text 43"/>
          <p:cNvSpPr txBox="1"/>
          <p:nvPr/>
        </p:nvSpPr>
        <p:spPr>
          <a:xfrm>
            <a:off x="2980944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55" name="journey card"/>
          <p:cNvSpPr/>
          <p:nvPr/>
        </p:nvSpPr>
        <p:spPr>
          <a:xfrm>
            <a:off x="2350008" y="4846320"/>
            <a:ext cx="1645920" cy="1280160"/>
          </a:xfrm>
          <a:prstGeom prst="roundRect">
            <a:avLst>
              <a:gd name="adj" fmla="val 8571"/>
            </a:avLst>
          </a:prstGeom>
          <a:solidFill>
            <a:srgbClr val="FFF4EB"/>
          </a:solidFill>
          <a:ln w="12700">
            <a:solidFill>
              <a:srgbClr val="FFF4EB"/>
            </a:solidFill>
            <a:prstDash val="solid"/>
          </a:ln>
        </p:spPr>
      </p:sp>
      <p:sp>
        <p:nvSpPr>
          <p:cNvPr id="56" name="Text 45"/>
          <p:cNvSpPr txBox="1"/>
          <p:nvPr/>
        </p:nvSpPr>
        <p:spPr>
          <a:xfrm>
            <a:off x="2441448" y="49194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 the problem</a:t>
            </a:r>
            <a:endParaRPr lang="en-US" sz="1200" dirty="0"/>
          </a:p>
        </p:txBody>
      </p:sp>
      <p:sp>
        <p:nvSpPr>
          <p:cNvPr id="57" name="Text 46"/>
          <p:cNvSpPr txBox="1"/>
          <p:nvPr/>
        </p:nvSpPr>
        <p:spPr>
          <a:xfrm>
            <a:off x="2441448" y="53949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Pivoted to learning-first; life support kept optional</a:t>
            </a:r>
            <a:endParaRPr lang="en-US" sz="1150" dirty="0"/>
          </a:p>
        </p:txBody>
      </p:sp>
      <p:sp>
        <p:nvSpPr>
          <p:cNvPr id="58" name="milestone"/>
          <p:cNvSpPr/>
          <p:nvPr/>
        </p:nvSpPr>
        <p:spPr>
          <a:xfrm>
            <a:off x="4873752" y="4334256"/>
            <a:ext cx="384048" cy="384048"/>
          </a:xfrm>
          <a:prstGeom prst="ellipse">
            <a:avLst/>
          </a:prstGeom>
          <a:solidFill>
            <a:srgbClr val="F9731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9" name="Text 48"/>
          <p:cNvSpPr txBox="1"/>
          <p:nvPr/>
        </p:nvSpPr>
        <p:spPr>
          <a:xfrm>
            <a:off x="4873752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60" name="journey card"/>
          <p:cNvSpPr/>
          <p:nvPr/>
        </p:nvSpPr>
        <p:spPr>
          <a:xfrm>
            <a:off x="4242816" y="4846320"/>
            <a:ext cx="1645920" cy="1280160"/>
          </a:xfrm>
          <a:prstGeom prst="roundRect">
            <a:avLst>
              <a:gd name="adj" fmla="val 8571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1" name="Text 50"/>
          <p:cNvSpPr txBox="1"/>
          <p:nvPr/>
        </p:nvSpPr>
        <p:spPr>
          <a:xfrm>
            <a:off x="4334256" y="49194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 Skill Bridge</a:t>
            </a:r>
            <a:endParaRPr lang="en-US" sz="1200" dirty="0"/>
          </a:p>
        </p:txBody>
      </p:sp>
      <p:sp>
        <p:nvSpPr>
          <p:cNvPr id="62" name="Text 51"/>
          <p:cNvSpPr txBox="1"/>
          <p:nvPr/>
        </p:nvSpPr>
        <p:spPr>
          <a:xfrm>
            <a:off x="4334256" y="53949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map, personal plan, verified badges</a:t>
            </a:r>
            <a:endParaRPr lang="en-US" sz="1150" dirty="0"/>
          </a:p>
        </p:txBody>
      </p:sp>
      <p:sp>
        <p:nvSpPr>
          <p:cNvPr id="63" name="milestone"/>
          <p:cNvSpPr/>
          <p:nvPr/>
        </p:nvSpPr>
        <p:spPr>
          <a:xfrm>
            <a:off x="6766560" y="4334256"/>
            <a:ext cx="384048" cy="384048"/>
          </a:xfrm>
          <a:prstGeom prst="ellipse">
            <a:avLst/>
          </a:prstGeom>
          <a:solidFill>
            <a:srgbClr val="F9731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4" name="Text 53"/>
          <p:cNvSpPr txBox="1"/>
          <p:nvPr/>
        </p:nvSpPr>
        <p:spPr>
          <a:xfrm>
            <a:off x="676656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5" name="journey card"/>
          <p:cNvSpPr/>
          <p:nvPr/>
        </p:nvSpPr>
        <p:spPr>
          <a:xfrm>
            <a:off x="6135624" y="4846320"/>
            <a:ext cx="1645920" cy="1280160"/>
          </a:xfrm>
          <a:prstGeom prst="roundRect">
            <a:avLst>
              <a:gd name="adj" fmla="val 8571"/>
            </a:avLst>
          </a:prstGeom>
          <a:solidFill>
            <a:srgbClr val="FFF4EB"/>
          </a:solidFill>
          <a:ln w="12700">
            <a:solidFill>
              <a:srgbClr val="FFF4EB"/>
            </a:solidFill>
            <a:prstDash val="solid"/>
          </a:ln>
        </p:spPr>
      </p:sp>
      <p:sp>
        <p:nvSpPr>
          <p:cNvPr id="66" name="Text 55"/>
          <p:cNvSpPr txBox="1"/>
          <p:nvPr/>
        </p:nvSpPr>
        <p:spPr>
          <a:xfrm>
            <a:off x="6227064" y="49194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Copilot</a:t>
            </a:r>
            <a:endParaRPr lang="en-US" sz="1200" dirty="0"/>
          </a:p>
        </p:txBody>
      </p:sp>
      <p:sp>
        <p:nvSpPr>
          <p:cNvPr id="67" name="Text 56"/>
          <p:cNvSpPr txBox="1"/>
          <p:nvPr/>
        </p:nvSpPr>
        <p:spPr>
          <a:xfrm>
            <a:off x="6227064" y="53949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Lessons, papers, quizzes, class heatmap</a:t>
            </a:r>
            <a:endParaRPr lang="en-US" sz="1150" dirty="0"/>
          </a:p>
        </p:txBody>
      </p:sp>
      <p:sp>
        <p:nvSpPr>
          <p:cNvPr id="68" name="milestone"/>
          <p:cNvSpPr/>
          <p:nvPr/>
        </p:nvSpPr>
        <p:spPr>
          <a:xfrm>
            <a:off x="8659368" y="4334256"/>
            <a:ext cx="384048" cy="384048"/>
          </a:xfrm>
          <a:prstGeom prst="ellipse">
            <a:avLst/>
          </a:prstGeom>
          <a:solidFill>
            <a:srgbClr val="F9731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9" name="Text 58"/>
          <p:cNvSpPr txBox="1"/>
          <p:nvPr/>
        </p:nvSpPr>
        <p:spPr>
          <a:xfrm>
            <a:off x="8659368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70" name="journey card"/>
          <p:cNvSpPr/>
          <p:nvPr/>
        </p:nvSpPr>
        <p:spPr>
          <a:xfrm>
            <a:off x="8028432" y="4846320"/>
            <a:ext cx="1645920" cy="1280160"/>
          </a:xfrm>
          <a:prstGeom prst="roundRect">
            <a:avLst>
              <a:gd name="adj" fmla="val 8571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71" name="Text 60"/>
          <p:cNvSpPr txBox="1"/>
          <p:nvPr/>
        </p:nvSpPr>
        <p:spPr>
          <a:xfrm>
            <a:off x="8119872" y="49194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add-ons</a:t>
            </a:r>
            <a:endParaRPr lang="en-US" sz="1200" dirty="0"/>
          </a:p>
        </p:txBody>
      </p:sp>
      <p:sp>
        <p:nvSpPr>
          <p:cNvPr id="72" name="Text 61"/>
          <p:cNvSpPr txBox="1"/>
          <p:nvPr/>
        </p:nvSpPr>
        <p:spPr>
          <a:xfrm>
            <a:off x="8119872" y="53949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Hindi, Lite mode, offline app, vocational</a:t>
            </a:r>
            <a:endParaRPr lang="en-US" sz="1150" dirty="0"/>
          </a:p>
        </p:txBody>
      </p:sp>
      <p:sp>
        <p:nvSpPr>
          <p:cNvPr id="73" name="milestone"/>
          <p:cNvSpPr/>
          <p:nvPr/>
        </p:nvSpPr>
        <p:spPr>
          <a:xfrm>
            <a:off x="10552176" y="4334256"/>
            <a:ext cx="384048" cy="384048"/>
          </a:xfrm>
          <a:prstGeom prst="ellipse">
            <a:avLst/>
          </a:prstGeom>
          <a:solidFill>
            <a:srgbClr val="16A3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4" name="Text 63"/>
          <p:cNvSpPr txBox="1"/>
          <p:nvPr/>
        </p:nvSpPr>
        <p:spPr>
          <a:xfrm>
            <a:off x="10552176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75" name="journey card"/>
          <p:cNvSpPr/>
          <p:nvPr/>
        </p:nvSpPr>
        <p:spPr>
          <a:xfrm>
            <a:off x="9921240" y="4846320"/>
            <a:ext cx="1645920" cy="1280160"/>
          </a:xfrm>
          <a:prstGeom prst="roundRect">
            <a:avLst>
              <a:gd name="adj" fmla="val 8571"/>
            </a:avLst>
          </a:prstGeom>
          <a:solidFill>
            <a:srgbClr val="FFF4EB"/>
          </a:solidFill>
          <a:ln w="12700">
            <a:solidFill>
              <a:srgbClr val="FFF4EB"/>
            </a:solidFill>
            <a:prstDash val="solid"/>
          </a:ln>
        </p:spPr>
      </p:sp>
      <p:sp>
        <p:nvSpPr>
          <p:cNvPr id="76" name="Text 65"/>
          <p:cNvSpPr txBox="1"/>
          <p:nvPr/>
        </p:nvSpPr>
        <p:spPr>
          <a:xfrm>
            <a:off x="10012680" y="49194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launch</a:t>
            </a:r>
            <a:endParaRPr lang="en-US" sz="1200" dirty="0"/>
          </a:p>
        </p:txBody>
      </p:sp>
      <p:sp>
        <p:nvSpPr>
          <p:cNvPr id="77" name="Text 66"/>
          <p:cNvSpPr txBox="1"/>
          <p:nvPr/>
        </p:nvSpPr>
        <p:spPr>
          <a:xfrm>
            <a:off x="10012680" y="53949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verification, live on Netlify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2103120" y="201168"/>
            <a:ext cx="8001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3" name="Team name oval"/>
          <p:cNvSpPr/>
          <p:nvPr/>
        </p:nvSpPr>
        <p:spPr>
          <a:xfrm>
            <a:off x="201168" y="146304"/>
            <a:ext cx="1645920" cy="822960"/>
          </a:xfrm>
          <a:prstGeom prst="ellipse">
            <a:avLst/>
          </a:prstGeom>
          <a:solidFill>
            <a:srgbClr val="F9C08F"/>
          </a:solidFill>
          <a:ln w="9525">
            <a:solidFill>
              <a:srgbClr val="F0A868"/>
            </a:solidFill>
            <a:prstDash val="solid"/>
          </a:ln>
          <a:effectLst>
            <a:outerShdw sx="100000" sy="100000" kx="0" ky="0" algn="bl" rotWithShape="0" blurRad="127000" dist="25400" dir="5400000">
              <a:srgbClr val="1F2A6E">
                <a:alpha val="14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246888" y="14630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‹Team Name›</a:t>
            </a:r>
            <a:endParaRPr lang="en-US" sz="1300" dirty="0"/>
          </a:p>
        </p:txBody>
      </p:sp>
      <p:sp>
        <p:nvSpPr>
          <p:cNvPr id="5" name="reference card"/>
          <p:cNvSpPr/>
          <p:nvPr/>
        </p:nvSpPr>
        <p:spPr>
          <a:xfrm>
            <a:off x="457200" y="1234440"/>
            <a:ext cx="365760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1F2A6E">
                <a:alpha val="14000"/>
              </a:srgbClr>
            </a:outerShdw>
          </a:effectLst>
        </p:spPr>
      </p:sp>
      <p:sp>
        <p:nvSpPr>
          <p:cNvPr id="6" name="ChartColumn circle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1F2A6E"/>
          </a:solidFill>
          <a:ln w="12700">
            <a:solidFill>
              <a:srgbClr val="1F2A6E"/>
            </a:solidFill>
            <a:prstDash val="solid"/>
          </a:ln>
        </p:spPr>
      </p:sp>
      <p:pic>
        <p:nvPicPr>
          <p:cNvPr id="7" name="ChartColumn icon" descr="ChartColum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481328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07008" y="13716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research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011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Skills Report 2025 (CII, Wheebox, AICTE)</a:t>
            </a:r>
            <a:endParaRPr lang="en-US" sz="1150" dirty="0"/>
          </a:p>
        </p:txBody>
      </p:sp>
      <p:sp>
        <p:nvSpPr>
          <p:cNvPr id="10" name="Text 7">
            <a:hlinkClick r:id="rId2" tooltip=""/>
          </p:cNvPr>
          <p:cNvSpPr txBox="1"/>
          <p:nvPr/>
        </p:nvSpPr>
        <p:spPr>
          <a:xfrm>
            <a:off x="685800" y="22860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taggd.in/industry-reports/isr/india-skills-report-2025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6883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AISHE 2021-22, Ministry of Education</a:t>
            </a:r>
            <a:endParaRPr lang="en-US" sz="1150" dirty="0"/>
          </a:p>
        </p:txBody>
      </p:sp>
      <p:sp>
        <p:nvSpPr>
          <p:cNvPr id="12" name="Text 9">
            <a:hlinkClick r:id="rId3" tooltip=""/>
          </p:cNvPr>
          <p:cNvSpPr txBox="1"/>
          <p:nvPr/>
        </p:nvSpPr>
        <p:spPr>
          <a:xfrm>
            <a:off x="685800" y="296265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aishe.gov.in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3649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Labour Force Survey, MoSPI</a:t>
            </a:r>
            <a:endParaRPr lang="en-US" sz="1150" dirty="0"/>
          </a:p>
        </p:txBody>
      </p:sp>
      <p:sp>
        <p:nvSpPr>
          <p:cNvPr id="14" name="Text 11">
            <a:hlinkClick r:id="rId4" tooltip=""/>
          </p:cNvPr>
          <p:cNvSpPr txBox="1"/>
          <p:nvPr/>
        </p:nvSpPr>
        <p:spPr>
          <a:xfrm>
            <a:off x="685800" y="36393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mospi.gov.in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40416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Education Policy 2020</a:t>
            </a:r>
            <a:endParaRPr lang="en-US" sz="1150" dirty="0"/>
          </a:p>
        </p:txBody>
      </p:sp>
      <p:sp>
        <p:nvSpPr>
          <p:cNvPr id="16" name="Text 13">
            <a:hlinkClick r:id="rId5" tooltip=""/>
          </p:cNvPr>
          <p:cNvSpPr txBox="1"/>
          <p:nvPr/>
        </p:nvSpPr>
        <p:spPr>
          <a:xfrm>
            <a:off x="685800" y="43159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education.gov.in — NEP 2020</a:t>
            </a:r>
            <a:endParaRPr lang="en-US" sz="1050" dirty="0"/>
          </a:p>
        </p:txBody>
      </p:sp>
      <p:sp>
        <p:nvSpPr>
          <p:cNvPr id="17" name="reference card"/>
          <p:cNvSpPr/>
          <p:nvPr/>
        </p:nvSpPr>
        <p:spPr>
          <a:xfrm>
            <a:off x="4265676" y="1234440"/>
            <a:ext cx="365760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1F2A6E">
                <a:alpha val="14000"/>
              </a:srgbClr>
            </a:outerShdw>
          </a:effectLst>
        </p:spPr>
      </p:sp>
      <p:sp>
        <p:nvSpPr>
          <p:cNvPr id="18" name="Landmark circle"/>
          <p:cNvSpPr/>
          <p:nvPr/>
        </p:nvSpPr>
        <p:spPr>
          <a:xfrm>
            <a:off x="4448556" y="137160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19" name="Landmark icon" descr="Landmark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8284" y="1481328"/>
            <a:ext cx="237744" cy="237744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015484" y="13716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platforms we link to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4494276" y="2011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India Digital Hub</a:t>
            </a:r>
            <a:endParaRPr lang="en-US" sz="1150" dirty="0"/>
          </a:p>
        </p:txBody>
      </p:sp>
      <p:sp>
        <p:nvSpPr>
          <p:cNvPr id="22" name="Text 18">
            <a:hlinkClick r:id="rId7" tooltip=""/>
          </p:cNvPr>
          <p:cNvSpPr txBox="1"/>
          <p:nvPr/>
        </p:nvSpPr>
        <p:spPr>
          <a:xfrm>
            <a:off x="4494276" y="22860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skillindiadigital.gov.in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4494276" y="26883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Apprenticeship India</a:t>
            </a:r>
            <a:endParaRPr lang="en-US" sz="1150" dirty="0"/>
          </a:p>
        </p:txBody>
      </p:sp>
      <p:sp>
        <p:nvSpPr>
          <p:cNvPr id="24" name="Text 20">
            <a:hlinkClick r:id="rId8" tooltip=""/>
          </p:cNvPr>
          <p:cNvSpPr txBox="1"/>
          <p:nvPr/>
        </p:nvSpPr>
        <p:spPr>
          <a:xfrm>
            <a:off x="4494276" y="296265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apprenticeshipindia.gov.in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4494276" y="33649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SWAYAM &amp; NPTEL free courses</a:t>
            </a:r>
            <a:endParaRPr lang="en-US" sz="1150" dirty="0"/>
          </a:p>
        </p:txBody>
      </p:sp>
      <p:sp>
        <p:nvSpPr>
          <p:cNvPr id="26" name="Text 22">
            <a:hlinkClick r:id="rId9" tooltip=""/>
          </p:cNvPr>
          <p:cNvSpPr txBox="1"/>
          <p:nvPr/>
        </p:nvSpPr>
        <p:spPr>
          <a:xfrm>
            <a:off x="4494276" y="36393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swayam.gov.in · nptel.ac.in</a:t>
            </a:r>
            <a:endParaRPr lang="en-US" sz="1050" dirty="0"/>
          </a:p>
        </p:txBody>
      </p:sp>
      <p:sp>
        <p:nvSpPr>
          <p:cNvPr id="27" name="Text 23"/>
          <p:cNvSpPr txBox="1"/>
          <p:nvPr/>
        </p:nvSpPr>
        <p:spPr>
          <a:xfrm>
            <a:off x="4494276" y="40416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Scholarship Portal</a:t>
            </a:r>
            <a:endParaRPr lang="en-US" sz="1150" dirty="0"/>
          </a:p>
        </p:txBody>
      </p:sp>
      <p:sp>
        <p:nvSpPr>
          <p:cNvPr id="28" name="Text 24">
            <a:hlinkClick r:id="rId10" tooltip=""/>
          </p:cNvPr>
          <p:cNvSpPr txBox="1"/>
          <p:nvPr/>
        </p:nvSpPr>
        <p:spPr>
          <a:xfrm>
            <a:off x="4494276" y="43159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scholarships.gov.in</a:t>
            </a:r>
            <a:endParaRPr lang="en-US" sz="1050" dirty="0"/>
          </a:p>
        </p:txBody>
      </p:sp>
      <p:sp>
        <p:nvSpPr>
          <p:cNvPr id="29" name="reference card"/>
          <p:cNvSpPr/>
          <p:nvPr/>
        </p:nvSpPr>
        <p:spPr>
          <a:xfrm>
            <a:off x="8074152" y="1234440"/>
            <a:ext cx="365760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1F2A6E">
                <a:alpha val="14000"/>
              </a:srgbClr>
            </a:outerShdw>
          </a:effectLst>
        </p:spPr>
      </p:sp>
      <p:sp>
        <p:nvSpPr>
          <p:cNvPr id="30" name="Code circle"/>
          <p:cNvSpPr/>
          <p:nvPr/>
        </p:nvSpPr>
        <p:spPr>
          <a:xfrm>
            <a:off x="8257032" y="1371600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31" name="Code icon" descr="Code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66760" y="1481328"/>
            <a:ext cx="237744" cy="237744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8823960" y="13716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documentation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8302752" y="2011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</a:t>
            </a:r>
            <a:endParaRPr lang="en-US" sz="1150" dirty="0"/>
          </a:p>
        </p:txBody>
      </p:sp>
      <p:sp>
        <p:nvSpPr>
          <p:cNvPr id="34" name="Text 29">
            <a:hlinkClick r:id="rId12" tooltip=""/>
          </p:cNvPr>
          <p:cNvSpPr txBox="1"/>
          <p:nvPr/>
        </p:nvSpPr>
        <p:spPr>
          <a:xfrm>
            <a:off x="8302752" y="22860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ai.google.dev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8302752" y="26883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Functions &amp; Blobs</a:t>
            </a:r>
            <a:endParaRPr lang="en-US" sz="1150" dirty="0"/>
          </a:p>
        </p:txBody>
      </p:sp>
      <p:sp>
        <p:nvSpPr>
          <p:cNvPr id="36" name="Text 31">
            <a:hlinkClick r:id="rId13" tooltip=""/>
          </p:cNvPr>
          <p:cNvSpPr txBox="1"/>
          <p:nvPr/>
        </p:nvSpPr>
        <p:spPr>
          <a:xfrm>
            <a:off x="8302752" y="296265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docs.netlify.com</a:t>
            </a:r>
            <a:endParaRPr lang="en-US" sz="1050" dirty="0"/>
          </a:p>
        </p:txBody>
      </p:sp>
      <p:sp>
        <p:nvSpPr>
          <p:cNvPr id="37" name="Text 32"/>
          <p:cNvSpPr txBox="1"/>
          <p:nvPr/>
        </p:nvSpPr>
        <p:spPr>
          <a:xfrm>
            <a:off x="8302752" y="33649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Vite · Tailwind CSS</a:t>
            </a:r>
            <a:endParaRPr lang="en-US" sz="1150" dirty="0"/>
          </a:p>
        </p:txBody>
      </p:sp>
      <p:sp>
        <p:nvSpPr>
          <p:cNvPr id="38" name="Text 33">
            <a:hlinkClick r:id="rId14" tooltip=""/>
          </p:cNvPr>
          <p:cNvSpPr txBox="1"/>
          <p:nvPr/>
        </p:nvSpPr>
        <p:spPr>
          <a:xfrm>
            <a:off x="8302752" y="36393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react.dev · vite.dev · tailwindcss.com</a:t>
            </a:r>
            <a:endParaRPr lang="en-US" sz="1050" dirty="0"/>
          </a:p>
        </p:txBody>
      </p:sp>
      <p:sp>
        <p:nvSpPr>
          <p:cNvPr id="39" name="Text 34"/>
          <p:cNvSpPr txBox="1"/>
          <p:nvPr/>
        </p:nvSpPr>
        <p:spPr>
          <a:xfrm>
            <a:off x="8302752" y="40416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 &amp; PWAs (MDN)</a:t>
            </a:r>
            <a:endParaRPr lang="en-US" sz="1150" dirty="0"/>
          </a:p>
        </p:txBody>
      </p:sp>
      <p:sp>
        <p:nvSpPr>
          <p:cNvPr id="40" name="Text 35">
            <a:hlinkClick r:id="rId15" tooltip=""/>
          </p:cNvPr>
          <p:cNvSpPr txBox="1"/>
          <p:nvPr/>
        </p:nvSpPr>
        <p:spPr>
          <a:xfrm>
            <a:off x="8302752" y="43159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developer.mozilla.org</a:t>
            </a:r>
            <a:endParaRPr lang="en-US" sz="1050" dirty="0"/>
          </a:p>
        </p:txBody>
      </p:sp>
      <p:sp>
        <p:nvSpPr>
          <p:cNvPr id="41" name="project strip"/>
          <p:cNvSpPr/>
          <p:nvPr/>
        </p:nvSpPr>
        <p:spPr>
          <a:xfrm>
            <a:off x="457200" y="4937760"/>
            <a:ext cx="11274552" cy="1353312"/>
          </a:xfrm>
          <a:prstGeom prst="roundRect">
            <a:avLst>
              <a:gd name="adj" fmla="val 9459"/>
            </a:avLst>
          </a:prstGeom>
          <a:solidFill>
            <a:srgbClr val="1F2A6E"/>
          </a:solidFill>
          <a:ln w="12700">
            <a:solidFill>
              <a:srgbClr val="1F2A6E"/>
            </a:solidFill>
            <a:prstDash val="solid"/>
          </a:ln>
          <a:effectLst>
            <a:outerShdw sx="100000" sy="100000" kx="0" ky="0" algn="bl" rotWithShape="0" blurRad="127000" dist="25400" dir="5400000">
              <a:srgbClr val="1F2A6E">
                <a:alpha val="14000"/>
              </a:srgbClr>
            </a:outerShdw>
          </a:effectLst>
        </p:spPr>
      </p:sp>
      <p:sp>
        <p:nvSpPr>
          <p:cNvPr id="42" name="Text 37"/>
          <p:cNvSpPr txBox="1"/>
          <p:nvPr/>
        </p:nvSpPr>
        <p:spPr>
          <a:xfrm>
            <a:off x="731520" y="50474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</a:t>
            </a:r>
            <a:endParaRPr lang="en-US" sz="1800" dirty="0"/>
          </a:p>
        </p:txBody>
      </p:sp>
      <p:pic>
        <p:nvPicPr>
          <p:cNvPr id="43" name="Globe icon" descr="Globe icon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9808" y="5495544"/>
            <a:ext cx="182880" cy="182880"/>
          </a:xfrm>
          <a:prstGeom prst="rect">
            <a:avLst/>
          </a:prstGeom>
        </p:spPr>
      </p:pic>
      <p:sp>
        <p:nvSpPr>
          <p:cNvPr id="44" name="Text 38"/>
          <p:cNvSpPr txBox="1"/>
          <p:nvPr/>
        </p:nvSpPr>
        <p:spPr>
          <a:xfrm>
            <a:off x="1024128" y="546811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 </a:t>
            </a:r>
            <a:pPr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studentsetuconnect.netlify.app</a:t>
            </a:r>
            <a:endParaRPr lang="en-US" sz="1150" dirty="0"/>
          </a:p>
        </p:txBody>
      </p:sp>
      <p:pic>
        <p:nvPicPr>
          <p:cNvPr id="45" name="Github icon" descr="Github icon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9808" y="5760720"/>
            <a:ext cx="182880" cy="182880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1024128" y="5733288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code:  </a:t>
            </a:r>
            <a:pPr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github.com/prakharporwal518-collab/Student-Setu</a:t>
            </a:r>
            <a:endParaRPr lang="en-US" sz="1150" dirty="0"/>
          </a:p>
        </p:txBody>
      </p:sp>
      <p:pic>
        <p:nvPicPr>
          <p:cNvPr id="47" name="CirclePlay icon" descr="CirclePlay icon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9808" y="6025896"/>
            <a:ext cx="182880" cy="182880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1024128" y="599846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video: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‹Add demo video link›</a:t>
            </a:r>
            <a:endParaRPr lang="en-US" sz="1150" dirty="0"/>
          </a:p>
        </p:txBody>
      </p:sp>
      <p:pic>
        <p:nvPicPr>
          <p:cNvPr id="49" name="qr Live demo" descr="QR code: Live demo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778240" y="5029200"/>
            <a:ext cx="914400" cy="914400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595360" y="59710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50" dirty="0"/>
          </a:p>
        </p:txBody>
      </p:sp>
      <p:pic>
        <p:nvPicPr>
          <p:cNvPr id="51" name="qr GitHub" descr="QR code: GitHub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195560" y="5029200"/>
            <a:ext cx="914400" cy="914400"/>
          </a:xfrm>
          <a:prstGeom prst="rect">
            <a:avLst/>
          </a:prstGeom>
        </p:spPr>
      </p:pic>
      <p:sp>
        <p:nvSpPr>
          <p:cNvPr id="52" name="Text 42"/>
          <p:cNvSpPr txBox="1"/>
          <p:nvPr/>
        </p:nvSpPr>
        <p:spPr>
          <a:xfrm>
            <a:off x="10012680" y="59710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dent Setu">
  <a:themeElements>
    <a:clrScheme name="Student Setu">
      <a:dk1>
        <a:srgbClr val="0F172A"/>
      </a:dk1>
      <a:lt1>
        <a:srgbClr val="FFFFFF"/>
      </a:lt1>
      <a:dk2>
        <a:srgbClr val="1F2A6E"/>
      </a:dk2>
      <a:lt2>
        <a:srgbClr val="EEF2FF"/>
      </a:lt2>
      <a:accent1>
        <a:srgbClr val="F97316"/>
      </a:accent1>
      <a:accent2>
        <a:srgbClr val="16A34A"/>
      </a:accent2>
      <a:accent3>
        <a:srgbClr val="E11D48"/>
      </a:accent3>
      <a:accent4>
        <a:srgbClr val="D97706"/>
      </a:accent4>
      <a:accent5>
        <a:srgbClr val="4F46E5"/>
      </a:accent5>
      <a:accent6>
        <a:srgbClr val="0D9488"/>
      </a:accent6>
      <a:hlink>
        <a:srgbClr val="4F46E5"/>
      </a:hlink>
      <a:folHlink>
        <a:srgbClr val="6D28D9"/>
      </a:folHlink>
    </a:clrScheme>
    <a:fontScheme name="Student Setu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Setu — HSC Hackathon</dc:title>
  <dc:subject>PptxGenJS Presentation</dc:subject>
  <dc:creator>Student Setu team</dc:creator>
  <cp:lastModifiedBy>Student Setu team</cp:lastModifiedBy>
  <cp:revision>1</cp:revision>
  <dcterms:created xsi:type="dcterms:W3CDTF">2026-10-25T02:53:21Z</dcterms:created>
  <dcterms:modified xsi:type="dcterms:W3CDTF">2026-10-25T02:53:21Z</dcterms:modified>
</cp:coreProperties>
</file>