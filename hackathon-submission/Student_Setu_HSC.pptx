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f2fc1904-8771-79f2-d609-87402edeee93}">
          <p14:sldIdLst>
            <p14:sldId id="256"/>
          </p14:sldIdLst>
        </p14:section>
        <p14:section name="Problem &amp; solution" id="{bac474fe-3d89-01a4-6330-4876ee6edb78}">
          <p14:sldIdLst>
            <p14:sldId id="257"/>
          </p14:sldIdLst>
        </p14:section>
        <p14:section name="Technical approach" id="{eeb29cd7-2c3f-5640-c233-0828d190007c}">
          <p14:sldIdLst>
            <p14:sldId id="258"/>
          </p14:sldIdLst>
        </p14:section>
        <p14:section name="Impact" id="{8489721f-437f-17d2-af00-bf40105784ce}">
          <p14:sldIdLst>
            <p14:sldId id="259"/>
          </p14:sldIdLst>
        </p14:section>
        <p14:section name="Feasibility &amp; risk" id="{302b8f55-b4a8-8f37-7655-679c42871575}">
          <p14:sldIdLst>
            <p14:sldId id="260"/>
          </p14:sldIdLst>
        </p14:section>
        <p14:section name="Team" id="{484b80c4-c015-defb-be0d-cd5cdc06b338}">
          <p14:sldIdLst>
            <p14:sldId id="261"/>
          </p14:sldIdLst>
        </p14:section>
        <p14:section name="References" id="{1313c50b-4f06-7b19-c1d7-c560004d349d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Student Setu is one free ecosystem from study to job. Fill in Team Name, Team ID and State/UT exactly as registered on the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graduates are not job-ready, few have vocational training, teachers are stretched. Solution: one journey — pathways for school students, Skill Bridge for college students, matched jobs and SIDF for graduates — plus Teacher Copilot.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Stack: React PWA on Netlify, four serverless functions, Gemini for content, Blobs for class data, HMAC-signed badges. Show the live demo and GitHub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school students, college students, teachers, graduates and trade learners. Eight stakeholder groups connect through the platform. Benefits are social, economic, educational and institutional.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is proven by the live prototype. Eight risks, each with a concrete mitigation already built or planned.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YuvaNex: Divyansh Dubey (Team Lead), Khushi Dubey (Frontend), Prakhar Porwal (AI &amp; Backend). Challenges show the hard problems we solved. Journey: we started as a student-life app and pivoted to learning-first after re-reading the problem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statistics on slide 2 come from these sources. Scan the QR codes for the live demo and the source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SC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ck for Social Caus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09728"/>
            <a:ext cx="1755648" cy="868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SC 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ck for Social Caus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09728"/>
            <a:ext cx="1755648" cy="8686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studentsetuconnect.netlify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image" Target="../media/image-1-7.png"/><Relationship Id="rId9" Type="http://schemas.openxmlformats.org/officeDocument/2006/relationships/image" Target="../media/image-1-8.png"/><Relationship Id="rId10" Type="http://schemas.openxmlformats.org/officeDocument/2006/relationships/image" Target="../media/image-1-9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1" Type="http://schemas.openxmlformats.org/officeDocument/2006/relationships/hyperlink" Target="https://github.com/prakharporwal518-collab/Student-Setu" TargetMode="External"/><Relationship Id="rId13" Type="http://schemas.openxmlformats.org/officeDocument/2006/relationships/hyperlink" Target="https://studentsetuconnect.netlify.app" TargetMode="External"/><Relationship Id="rId15" Type="http://schemas.openxmlformats.org/officeDocument/2006/relationships/hyperlink" Target="https://github.com/prakharporwal518-collab/Student-Setu/raw/main/hackathon-submission/Student_Setu_Demo_Video.mp4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2" Type="http://schemas.openxmlformats.org/officeDocument/2006/relationships/image" Target="../media/image-3-11.png"/><Relationship Id="rId14" Type="http://schemas.openxmlformats.org/officeDocument/2006/relationships/image" Target="../media/image-3-12.png"/><Relationship Id="rId16" Type="http://schemas.openxmlformats.org/officeDocument/2006/relationships/image" Target="../media/image-3-13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taggd.in/industry-reports/isr/india-skills-report-2025/" TargetMode="External"/><Relationship Id="rId3" Type="http://schemas.openxmlformats.org/officeDocument/2006/relationships/hyperlink" Target="https://aishe.gov.in/" TargetMode="External"/><Relationship Id="rId4" Type="http://schemas.openxmlformats.org/officeDocument/2006/relationships/hyperlink" Target="https://mospi.gov.in/" TargetMode="External"/><Relationship Id="rId5" Type="http://schemas.openxmlformats.org/officeDocument/2006/relationships/hyperlink" Target="https://www.education.gov.in/sites/upload_files/mhrd/files/NEP_Final_English_0.pdf" TargetMode="External"/><Relationship Id="rId7" Type="http://schemas.openxmlformats.org/officeDocument/2006/relationships/hyperlink" Target="https://nta.ac.in/" TargetMode="External"/><Relationship Id="rId8" Type="http://schemas.openxmlformats.org/officeDocument/2006/relationships/hyperlink" Target="https://josaa.nic.in/" TargetMode="External"/><Relationship Id="rId9" Type="http://schemas.openxmlformats.org/officeDocument/2006/relationships/hyperlink" Target="https://telemanas.mohfw.gov.in/" TargetMode="External"/><Relationship Id="rId10" Type="http://schemas.openxmlformats.org/officeDocument/2006/relationships/hyperlink" Target="https://seedfund.startupindia.gov.in/" TargetMode="External"/><Relationship Id="rId11" Type="http://schemas.openxmlformats.org/officeDocument/2006/relationships/hyperlink" Target="https://www.skillindiadigital.gov.in/" TargetMode="External"/><Relationship Id="rId13" Type="http://schemas.openxmlformats.org/officeDocument/2006/relationships/hyperlink" Target="https://ai.google.dev/" TargetMode="External"/><Relationship Id="rId14" Type="http://schemas.openxmlformats.org/officeDocument/2006/relationships/hyperlink" Target="https://docs.netlify.com/" TargetMode="External"/><Relationship Id="rId15" Type="http://schemas.openxmlformats.org/officeDocument/2006/relationships/hyperlink" Target="https://react.dev/" TargetMode="External"/><Relationship Id="rId16" Type="http://schemas.openxmlformats.org/officeDocument/2006/relationships/hyperlink" Target="https://developer.mozilla.org/" TargetMode="External"/><Relationship Id="rId18" Type="http://schemas.openxmlformats.org/officeDocument/2006/relationships/hyperlink" Target="https://studentsetuconnect.netlify.app" TargetMode="External"/><Relationship Id="rId20" Type="http://schemas.openxmlformats.org/officeDocument/2006/relationships/hyperlink" Target="https://github.com/prakharporwal518-collab/Student-Setu" TargetMode="External"/><Relationship Id="rId22" Type="http://schemas.openxmlformats.org/officeDocument/2006/relationships/hyperlink" Target="https://github.com/prakharporwal518-collab/Student-Setu/raw/main/hackathon-submission/Student_Setu_Demo_Video.mp4" TargetMode="External"/><Relationship Id="rId1" Type="http://schemas.openxmlformats.org/officeDocument/2006/relationships/image" Target="../media/image-7-1.png"/><Relationship Id="rId6" Type="http://schemas.openxmlformats.org/officeDocument/2006/relationships/image" Target="../media/image-7-2.png"/><Relationship Id="rId12" Type="http://schemas.openxmlformats.org/officeDocument/2006/relationships/image" Target="../media/image-7-3.png"/><Relationship Id="rId17" Type="http://schemas.openxmlformats.org/officeDocument/2006/relationships/image" Target="../media/image-7-4.png"/><Relationship Id="rId19" Type="http://schemas.openxmlformats.org/officeDocument/2006/relationships/image" Target="../media/image-7-5.png"/><Relationship Id="rId21" Type="http://schemas.openxmlformats.org/officeDocument/2006/relationships/image" Target="../media/image-7-6.png"/><Relationship Id="rId23" Type="http://schemas.openxmlformats.org/officeDocument/2006/relationships/image" Target="../media/image-7-7.png"/><Relationship Id="rId24" Type="http://schemas.openxmlformats.org/officeDocument/2006/relationships/image" Target="../media/image-7-8.png"/><Relationship Id="rId25" Type="http://schemas.openxmlformats.org/officeDocument/2006/relationships/image" Target="../media/image-7-9.png"/><Relationship Id="rId26" Type="http://schemas.openxmlformats.org/officeDocument/2006/relationships/slideLayout" Target="../slideLayouts/slideLayout2.xml"/><Relationship Id="rId2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 panel"/>
          <p:cNvSpPr/>
          <p:nvPr/>
        </p:nvSpPr>
        <p:spPr>
          <a:xfrm>
            <a:off x="0" y="0"/>
            <a:ext cx="5074920" cy="6858000"/>
          </a:xfrm>
          <a:prstGeom prst="rect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sp>
        <p:nvSpPr>
          <p:cNvPr id="3" name="glow"/>
          <p:cNvSpPr/>
          <p:nvPr/>
        </p:nvSpPr>
        <p:spPr>
          <a:xfrm>
            <a:off x="2331720" y="-1143000"/>
            <a:ext cx="2651760" cy="2651760"/>
          </a:xfrm>
          <a:prstGeom prst="ellipse">
            <a:avLst/>
          </a:prstGeom>
          <a:solidFill>
            <a:srgbClr val="2B3A8C">
              <a:alpha val="70000"/>
            </a:srgbClr>
          </a:solidFill>
          <a:ln w="12700">
            <a:solidFill>
              <a:srgbClr val="2B3A8C"/>
            </a:solidFill>
            <a:prstDash val="solid"/>
          </a:ln>
        </p:spPr>
      </p:sp>
      <p:pic>
        <p:nvPicPr>
          <p:cNvPr id="4" name="site logo" descr="Student Se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566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 FOR SOCIAL CAUSE · EDTECH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868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· Built for Bharat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5087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</a:t>
            </a:r>
            <a:pPr indent="0" marL="0">
              <a:buNone/>
            </a:pPr>
            <a:r>
              <a:rPr lang="en-US" sz="48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860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Students, Building Futures</a:t>
            </a:r>
            <a:endParaRPr lang="en-US" sz="1800" dirty="0"/>
          </a:p>
        </p:txBody>
      </p:sp>
      <p:sp>
        <p:nvSpPr>
          <p:cNvPr id="9" name="browser frame"/>
          <p:cNvSpPr/>
          <p:nvPr/>
        </p:nvSpPr>
        <p:spPr>
          <a:xfrm>
            <a:off x="457200" y="2926080"/>
            <a:ext cx="4206240" cy="2862072"/>
          </a:xfrm>
          <a:prstGeom prst="roundRect">
            <a:avLst>
              <a:gd name="adj" fmla="val 31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0" name="browser dot"/>
          <p:cNvSpPr/>
          <p:nvPr/>
        </p:nvSpPr>
        <p:spPr>
          <a:xfrm>
            <a:off x="594360" y="3008376"/>
            <a:ext cx="91440" cy="914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1" name="browser dot"/>
          <p:cNvSpPr/>
          <p:nvPr/>
        </p:nvSpPr>
        <p:spPr>
          <a:xfrm>
            <a:off x="749808" y="3008376"/>
            <a:ext cx="91440" cy="914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browser dot"/>
          <p:cNvSpPr/>
          <p:nvPr/>
        </p:nvSpPr>
        <p:spPr>
          <a:xfrm>
            <a:off x="905256" y="3008376"/>
            <a:ext cx="91440" cy="914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43000" y="29718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studentsetuconnect.netlify.app</a:t>
            </a:r>
            <a:endParaRPr lang="en-US" sz="900" dirty="0"/>
          </a:p>
        </p:txBody>
      </p:sp>
      <p:pic>
        <p:nvPicPr>
          <p:cNvPr id="14" name="home screenshot" descr="Student Setu home p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3182112"/>
            <a:ext cx="4096512" cy="2560320"/>
          </a:xfrm>
          <a:prstGeom prst="rect">
            <a:avLst/>
          </a:prstGeom>
        </p:spPr>
      </p:pic>
      <p:pic>
        <p:nvPicPr>
          <p:cNvPr id="15" name="Globe icon" descr="Glob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099048"/>
            <a:ext cx="256032" cy="256032"/>
          </a:xfrm>
          <a:prstGeom prst="rect">
            <a:avLst/>
          </a:prstGeom>
        </p:spPr>
      </p:pic>
      <p:sp>
        <p:nvSpPr>
          <p:cNvPr id="16" name="Text 11">
            <a:hlinkClick r:id="rId4" tooltip=""/>
          </p:cNvPr>
          <p:cNvSpPr txBox="1"/>
          <p:nvPr/>
        </p:nvSpPr>
        <p:spPr>
          <a:xfrm>
            <a:off x="841248" y="6089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studentsetuconnect.netlify.app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0" y="5029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PAGE</a:t>
            </a:r>
            <a:endParaRPr lang="en-US" sz="1200" dirty="0"/>
          </a:p>
        </p:txBody>
      </p:sp>
      <p:sp>
        <p:nvSpPr>
          <p:cNvPr id="18" name="Target circle"/>
          <p:cNvSpPr/>
          <p:nvPr/>
        </p:nvSpPr>
        <p:spPr>
          <a:xfrm>
            <a:off x="5486400" y="1207008"/>
            <a:ext cx="548640" cy="548640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19" name="Target icon" descr="Targe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8074" y="1338682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17920" y="11887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/ CONCEPT TITLE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1435608"/>
            <a:ext cx="557784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Setu — AI-powered Curriculum-to-Career Bridge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ecosystem from study to job: Class 12 course pathways, skill-gap plans with verified badges, matched jobs, an AI copilot for teachers, counselling and vocational training in Hindi.</a:t>
            </a:r>
            <a:endParaRPr lang="en-US" sz="1400" dirty="0"/>
          </a:p>
        </p:txBody>
      </p:sp>
      <p:sp>
        <p:nvSpPr>
          <p:cNvPr id="22" name="Lightbulb circle"/>
          <p:cNvSpPr/>
          <p:nvPr/>
        </p:nvSpPr>
        <p:spPr>
          <a:xfrm>
            <a:off x="5486400" y="2834640"/>
            <a:ext cx="548640" cy="5486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23" name="Lightbulb icon" descr="Lightbulb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8074" y="2966314"/>
            <a:ext cx="285293" cy="28529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217920" y="28163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6217920" y="30632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Education &amp; Skill Development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learning · personalised education · empowering teachers · vocational training</a:t>
            </a:r>
            <a:endParaRPr lang="en-US" sz="1400" dirty="0"/>
          </a:p>
        </p:txBody>
      </p:sp>
      <p:sp>
        <p:nvSpPr>
          <p:cNvPr id="26" name="Users circle"/>
          <p:cNvSpPr/>
          <p:nvPr/>
        </p:nvSpPr>
        <p:spPr>
          <a:xfrm>
            <a:off x="5486400" y="37947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27" name="Users icon" descr="Users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8074" y="392643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217920" y="3776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(REGISTERED ON PORTAL)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6217920" y="4023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YuvaNex</a:t>
            </a:r>
            <a:endParaRPr lang="en-US" sz="1400" dirty="0"/>
          </a:p>
        </p:txBody>
      </p:sp>
      <p:sp>
        <p:nvSpPr>
          <p:cNvPr id="30" name="IdCard circle"/>
          <p:cNvSpPr/>
          <p:nvPr/>
        </p:nvSpPr>
        <p:spPr>
          <a:xfrm>
            <a:off x="5486400" y="461772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1" name="IdCard icon" descr="IdCard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8074" y="4749394"/>
            <a:ext cx="285293" cy="28529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217920" y="45994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(REGISTERED ON PORTAL)</a:t>
            </a:r>
            <a:endParaRPr lang="en-US" sz="1100" dirty="0"/>
          </a:p>
        </p:txBody>
      </p:sp>
      <p:sp>
        <p:nvSpPr>
          <p:cNvPr id="33" name="Text 24"/>
          <p:cNvSpPr txBox="1"/>
          <p:nvPr/>
        </p:nvSpPr>
        <p:spPr>
          <a:xfrm>
            <a:off x="6217920" y="48463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HSC|MP|00172</a:t>
            </a:r>
            <a:endParaRPr lang="en-US" sz="1400" dirty="0"/>
          </a:p>
        </p:txBody>
      </p:sp>
      <p:sp>
        <p:nvSpPr>
          <p:cNvPr id="34" name="MapPin circle"/>
          <p:cNvSpPr/>
          <p:nvPr/>
        </p:nvSpPr>
        <p:spPr>
          <a:xfrm>
            <a:off x="5486400" y="5440680"/>
            <a:ext cx="548640" cy="5486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5" name="MapPin icon" descr="MapPi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18074" y="5572354"/>
            <a:ext cx="285293" cy="285293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6217920" y="54223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/ UT</a:t>
            </a:r>
            <a:endParaRPr lang="en-US" sz="1100" dirty="0"/>
          </a:p>
        </p:txBody>
      </p:sp>
      <p:sp>
        <p:nvSpPr>
          <p:cNvPr id="37" name="Text 27"/>
          <p:cNvSpPr txBox="1"/>
          <p:nvPr/>
        </p:nvSpPr>
        <p:spPr>
          <a:xfrm>
            <a:off x="6217920" y="56692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</a:t>
            </a:r>
            <a:endParaRPr lang="en-US" sz="1400" dirty="0"/>
          </a:p>
        </p:txBody>
      </p:sp>
      <p:sp>
        <p:nvSpPr>
          <p:cNvPr id="38" name="qr card"/>
          <p:cNvSpPr/>
          <p:nvPr/>
        </p:nvSpPr>
        <p:spPr>
          <a:xfrm>
            <a:off x="10241280" y="3703320"/>
            <a:ext cx="1508760" cy="18745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pic>
        <p:nvPicPr>
          <p:cNvPr id="39" name="qr live" descr="QR code to live dem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78440" y="3822192"/>
            <a:ext cx="1234440" cy="1234440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10241280" y="51206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live demo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– Proposed Solution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YuvaNex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PROBLEM — EDUCATION ISN’T TURNING INTO JOBS</a:t>
            </a:r>
            <a:endParaRPr lang="en-US" sz="1200" dirty="0"/>
          </a:p>
        </p:txBody>
      </p:sp>
      <p:sp>
        <p:nvSpPr>
          <p:cNvPr id="6" name="problem stat"/>
          <p:cNvSpPr/>
          <p:nvPr/>
        </p:nvSpPr>
        <p:spPr>
          <a:xfrm>
            <a:off x="457200" y="1389888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463040"/>
            <a:ext cx="1490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Indian graduates are not job-ready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176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Skills Report 2025 (54.81% employable)</a:t>
            </a:r>
            <a:endParaRPr lang="en-US" sz="1000" dirty="0"/>
          </a:p>
        </p:txBody>
      </p:sp>
      <p:sp>
        <p:nvSpPr>
          <p:cNvPr id="10" name="problem stat"/>
          <p:cNvSpPr/>
          <p:nvPr/>
        </p:nvSpPr>
        <p:spPr>
          <a:xfrm>
            <a:off x="3319272" y="1389888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463040"/>
            <a:ext cx="1490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Indians aged 15–59 have formal vocational training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176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PLFS 2023-24, MoSPI</a:t>
            </a:r>
            <a:endParaRPr lang="en-US" sz="1000" dirty="0"/>
          </a:p>
        </p:txBody>
      </p:sp>
      <p:sp>
        <p:nvSpPr>
          <p:cNvPr id="14" name="problem stat"/>
          <p:cNvSpPr/>
          <p:nvPr/>
        </p:nvSpPr>
        <p:spPr>
          <a:xfrm>
            <a:off x="6181344" y="1389888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91072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27:1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296912" y="1463040"/>
            <a:ext cx="1490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per teacher — little time for prep or personal attention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176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AISHE 2021-22, Ministry of Education</a:t>
            </a:r>
            <a:endParaRPr lang="en-US" sz="1000" dirty="0"/>
          </a:p>
        </p:txBody>
      </p:sp>
      <p:sp>
        <p:nvSpPr>
          <p:cNvPr id="18" name="problem stat"/>
          <p:cNvSpPr/>
          <p:nvPr/>
        </p:nvSpPr>
        <p:spPr>
          <a:xfrm>
            <a:off x="9043416" y="1389888"/>
            <a:ext cx="2697480" cy="1097280"/>
          </a:xfrm>
          <a:prstGeom prst="roundRect">
            <a:avLst>
              <a:gd name="adj" fmla="val 10000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53144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10158984" y="1463040"/>
            <a:ext cx="1490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Web Developer job skills covered by a B.Tech syllabus, even at graduation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53144" y="2176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gap-map analysis (RGPV B.Tech)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6334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— ONE JOURNEY FROM STUDY TO JOB, PLUS TEACHERS</a:t>
            </a:r>
            <a:endParaRPr lang="en-US" sz="1200" dirty="0"/>
          </a:p>
        </p:txBody>
      </p:sp>
      <p:sp>
        <p:nvSpPr>
          <p:cNvPr id="23" name="pillar card"/>
          <p:cNvSpPr/>
          <p:nvPr/>
        </p:nvSpPr>
        <p:spPr>
          <a:xfrm>
            <a:off x="457200" y="2926080"/>
            <a:ext cx="2697480" cy="2240280"/>
          </a:xfrm>
          <a:prstGeom prst="roundRect">
            <a:avLst>
              <a:gd name="adj" fmla="val 4898"/>
            </a:avLst>
          </a:prstGeom>
          <a:solidFill>
            <a:srgbClr val="EEF0FF"/>
          </a:solidFill>
          <a:ln w="12700">
            <a:solidFill>
              <a:srgbClr val="EEF0FF"/>
            </a:solidFill>
            <a:prstDash val="solid"/>
          </a:ln>
        </p:spPr>
      </p:sp>
      <p:sp>
        <p:nvSpPr>
          <p:cNvPr id="24" name="School circle"/>
          <p:cNvSpPr/>
          <p:nvPr/>
        </p:nvSpPr>
        <p:spPr>
          <a:xfrm>
            <a:off x="594360" y="3044952"/>
            <a:ext cx="475488" cy="47548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25" name="School icon" descr="School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477" y="3159069"/>
            <a:ext cx="247254" cy="24725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161288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12th Pathways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161288" y="3300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students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63931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12 subjects → every course, public &amp; private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Entrance exams, roadmap, free notes &amp; videos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careers if NEET/JEE goes wrong + counselling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Solves: career confusion</a:t>
            </a:r>
            <a:endParaRPr lang="en-US" sz="1050" dirty="0"/>
          </a:p>
        </p:txBody>
      </p:sp>
      <p:sp>
        <p:nvSpPr>
          <p:cNvPr id="30" name="pillar card"/>
          <p:cNvSpPr/>
          <p:nvPr/>
        </p:nvSpPr>
        <p:spPr>
          <a:xfrm>
            <a:off x="3319272" y="2926080"/>
            <a:ext cx="2697480" cy="2240280"/>
          </a:xfrm>
          <a:prstGeom prst="roundRect">
            <a:avLst>
              <a:gd name="adj" fmla="val 489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1" name="GraduationCap circle"/>
          <p:cNvSpPr/>
          <p:nvPr/>
        </p:nvSpPr>
        <p:spPr>
          <a:xfrm>
            <a:off x="3456432" y="3044952"/>
            <a:ext cx="475488" cy="475488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32" name="GraduationCap icon" descr="GraduationCa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549" y="3159069"/>
            <a:ext cx="247254" cy="247254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4023360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Skill Bridge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4023360" y="3300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students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3429000" y="363931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vs job gap map (45 skills × 13 roles)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plan + server-graded, signed badges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Hub: free AI courses, Prompt Lab, leaderboard</a:t>
            </a:r>
            <a:endParaRPr lang="en-US" sz="1050" dirty="0"/>
          </a:p>
        </p:txBody>
      </p:sp>
      <p:sp>
        <p:nvSpPr>
          <p:cNvPr id="36" name="Text 32"/>
          <p:cNvSpPr txBox="1"/>
          <p:nvPr/>
        </p:nvSpPr>
        <p:spPr>
          <a:xfrm>
            <a:off x="3456432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Solves: skills gap</a:t>
            </a:r>
            <a:endParaRPr lang="en-US" sz="1050" dirty="0"/>
          </a:p>
        </p:txBody>
      </p:sp>
      <p:sp>
        <p:nvSpPr>
          <p:cNvPr id="37" name="pillar card"/>
          <p:cNvSpPr/>
          <p:nvPr/>
        </p:nvSpPr>
        <p:spPr>
          <a:xfrm>
            <a:off x="6181344" y="2926080"/>
            <a:ext cx="2697480" cy="2240280"/>
          </a:xfrm>
          <a:prstGeom prst="roundRect">
            <a:avLst>
              <a:gd name="adj" fmla="val 4898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38" name="Briefcase circle"/>
          <p:cNvSpPr/>
          <p:nvPr/>
        </p:nvSpPr>
        <p:spPr>
          <a:xfrm>
            <a:off x="6318504" y="3044952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9" name="Briefcase icon" descr="Briefcas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621" y="3159069"/>
            <a:ext cx="247254" cy="24725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885432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Innovation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885432" y="3300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 &amp; founders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291072" y="363931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profile → jobs matched to degree &amp; skills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SIDF: startup events &amp; mentors in govt colleges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startup funding schemes in one place</a:t>
            </a:r>
            <a:endParaRPr lang="en-US" sz="1050" dirty="0"/>
          </a:p>
        </p:txBody>
      </p:sp>
      <p:sp>
        <p:nvSpPr>
          <p:cNvPr id="43" name="Text 38"/>
          <p:cNvSpPr txBox="1"/>
          <p:nvPr/>
        </p:nvSpPr>
        <p:spPr>
          <a:xfrm>
            <a:off x="6318504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Solves: unemployment</a:t>
            </a:r>
            <a:endParaRPr lang="en-US" sz="1050" dirty="0"/>
          </a:p>
        </p:txBody>
      </p:sp>
      <p:sp>
        <p:nvSpPr>
          <p:cNvPr id="44" name="pillar card"/>
          <p:cNvSpPr/>
          <p:nvPr/>
        </p:nvSpPr>
        <p:spPr>
          <a:xfrm>
            <a:off x="9043416" y="2926080"/>
            <a:ext cx="2697480" cy="2240280"/>
          </a:xfrm>
          <a:prstGeom prst="roundRect">
            <a:avLst>
              <a:gd name="adj" fmla="val 4898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45" name="Presentation circle"/>
          <p:cNvSpPr/>
          <p:nvPr/>
        </p:nvSpPr>
        <p:spPr>
          <a:xfrm>
            <a:off x="9180576" y="3044952"/>
            <a:ext cx="475488" cy="47548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46" name="Presentation icon" descr="Presentat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693" y="3159069"/>
            <a:ext cx="247254" cy="247254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9747504" y="3035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Copilot</a:t>
            </a:r>
            <a:endParaRPr lang="en-US" sz="1400" dirty="0"/>
          </a:p>
        </p:txBody>
      </p:sp>
      <p:sp>
        <p:nvSpPr>
          <p:cNvPr id="48" name="Text 42"/>
          <p:cNvSpPr txBox="1"/>
          <p:nvPr/>
        </p:nvSpPr>
        <p:spPr>
          <a:xfrm>
            <a:off x="9747504" y="3300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050" dirty="0"/>
          </a:p>
        </p:txBody>
      </p:sp>
      <p:sp>
        <p:nvSpPr>
          <p:cNvPr id="49" name="Text 43"/>
          <p:cNvSpPr txBox="1"/>
          <p:nvPr/>
        </p:nvSpPr>
        <p:spPr>
          <a:xfrm>
            <a:off x="9153144" y="363931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lesson plans, papers &amp; quizzes (English/Hindi)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code join, auto-graded, no student login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Weak-topic heatmap → one-click re-teach</a:t>
            </a:r>
            <a:endParaRPr lang="en-US" sz="1050" dirty="0"/>
          </a:p>
        </p:txBody>
      </p:sp>
      <p:sp>
        <p:nvSpPr>
          <p:cNvPr id="50" name="Text 44"/>
          <p:cNvSpPr txBox="1"/>
          <p:nvPr/>
        </p:nvSpPr>
        <p:spPr>
          <a:xfrm>
            <a:off x="9180576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Solves: overloaded teachers</a:t>
            </a:r>
            <a:endParaRPr lang="en-US" sz="1050" dirty="0"/>
          </a:p>
        </p:txBody>
      </p:sp>
      <p:sp>
        <p:nvSpPr>
          <p:cNvPr id="51" name="Text 45"/>
          <p:cNvSpPr txBox="1"/>
          <p:nvPr/>
        </p:nvSpPr>
        <p:spPr>
          <a:xfrm>
            <a:off x="457200" y="52852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1200" dirty="0"/>
          </a:p>
        </p:txBody>
      </p:sp>
      <p:sp>
        <p:nvSpPr>
          <p:cNvPr id="52" name="innovation chip"/>
          <p:cNvSpPr/>
          <p:nvPr/>
        </p:nvSpPr>
        <p:spPr>
          <a:xfrm>
            <a:off x="457200" y="5577840"/>
            <a:ext cx="2697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3" name="Route circle"/>
          <p:cNvSpPr/>
          <p:nvPr/>
        </p:nvSpPr>
        <p:spPr>
          <a:xfrm>
            <a:off x="566928" y="5678424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54" name="Route icon" descr="Rout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5788152"/>
            <a:ext cx="237744" cy="237744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1115568" y="5614416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→ college → job in one place, with Plan B</a:t>
            </a:r>
            <a:endParaRPr lang="en-US" sz="1100" dirty="0"/>
          </a:p>
        </p:txBody>
      </p:sp>
      <p:sp>
        <p:nvSpPr>
          <p:cNvPr id="56" name="innovation chip"/>
          <p:cNvSpPr/>
          <p:nvPr/>
        </p:nvSpPr>
        <p:spPr>
          <a:xfrm>
            <a:off x="3319272" y="5577840"/>
            <a:ext cx="2697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7" name="ShieldCheck circle"/>
          <p:cNvSpPr/>
          <p:nvPr/>
        </p:nvSpPr>
        <p:spPr>
          <a:xfrm>
            <a:off x="3429000" y="5678424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58" name="ShieldCheck icon" descr="Shield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8728" y="5788152"/>
            <a:ext cx="237744" cy="237744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977640" y="5614416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badges: answers never reach the browser</a:t>
            </a:r>
            <a:endParaRPr lang="en-US" sz="1100" dirty="0"/>
          </a:p>
        </p:txBody>
      </p:sp>
      <p:sp>
        <p:nvSpPr>
          <p:cNvPr id="60" name="innovation chip"/>
          <p:cNvSpPr/>
          <p:nvPr/>
        </p:nvSpPr>
        <p:spPr>
          <a:xfrm>
            <a:off x="6181344" y="5577840"/>
            <a:ext cx="2697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1" name="RefreshCw circle"/>
          <p:cNvSpPr/>
          <p:nvPr/>
        </p:nvSpPr>
        <p:spPr>
          <a:xfrm>
            <a:off x="6291072" y="5678424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62" name="RefreshCw icon" descr="RefreshCw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5788152"/>
            <a:ext cx="237744" cy="237744"/>
          </a:xfrm>
          <a:prstGeom prst="rect">
            <a:avLst/>
          </a:prstGeom>
        </p:spPr>
      </p:pic>
      <p:sp>
        <p:nvSpPr>
          <p:cNvPr id="63" name="Text 54"/>
          <p:cNvSpPr txBox="1"/>
          <p:nvPr/>
        </p:nvSpPr>
        <p:spPr>
          <a:xfrm>
            <a:off x="6839712" y="5614416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teaching loop: quiz → heatmap → re-teach</a:t>
            </a:r>
            <a:endParaRPr lang="en-US" sz="1100" dirty="0"/>
          </a:p>
        </p:txBody>
      </p:sp>
      <p:sp>
        <p:nvSpPr>
          <p:cNvPr id="64" name="innovation chip"/>
          <p:cNvSpPr/>
          <p:nvPr/>
        </p:nvSpPr>
        <p:spPr>
          <a:xfrm>
            <a:off x="9043416" y="5577840"/>
            <a:ext cx="2697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ED7A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5" name="Languages circle"/>
          <p:cNvSpPr/>
          <p:nvPr/>
        </p:nvSpPr>
        <p:spPr>
          <a:xfrm>
            <a:off x="9153144" y="5678424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66" name="Languages icon" descr="Languages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2872" y="5788152"/>
            <a:ext cx="237744" cy="237744"/>
          </a:xfrm>
          <a:prstGeom prst="rect">
            <a:avLst/>
          </a:prstGeom>
        </p:spPr>
      </p:pic>
      <p:sp>
        <p:nvSpPr>
          <p:cNvPr id="67" name="Text 57"/>
          <p:cNvSpPr txBox="1"/>
          <p:nvPr/>
        </p:nvSpPr>
        <p:spPr>
          <a:xfrm>
            <a:off x="9701784" y="5614416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Bharat-first: Hindi, 2G Lite mode, offline, stay &amp; food map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YuvaNex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— SERVERLESS, LOW-COST STACK</a:t>
            </a:r>
            <a:endParaRPr lang="en-US" sz="1200" dirty="0"/>
          </a:p>
        </p:txBody>
      </p:sp>
      <p:sp>
        <p:nvSpPr>
          <p:cNvPr id="6" name="stack layer"/>
          <p:cNvSpPr/>
          <p:nvPr/>
        </p:nvSpPr>
        <p:spPr>
          <a:xfrm>
            <a:off x="457200" y="1389888"/>
            <a:ext cx="5577840" cy="731520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martphone circle"/>
          <p:cNvSpPr/>
          <p:nvPr/>
        </p:nvSpPr>
        <p:spPr>
          <a:xfrm>
            <a:off x="566928" y="1517904"/>
            <a:ext cx="475488" cy="47548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8" name="Smartphone icon" descr="Smartphon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045" y="1632021"/>
            <a:ext cx="247254" cy="24725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1463040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(PWA)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146304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Vite 6 · Tailwind CSS · Framer Motion · React Router · Service Worker · Web Speech API</a:t>
            </a:r>
            <a:endParaRPr lang="en-US" sz="1100" dirty="0"/>
          </a:p>
        </p:txBody>
      </p:sp>
      <p:sp>
        <p:nvSpPr>
          <p:cNvPr id="11" name="flow arrow"/>
          <p:cNvSpPr/>
          <p:nvPr/>
        </p:nvSpPr>
        <p:spPr>
          <a:xfrm>
            <a:off x="3136392" y="2130552"/>
            <a:ext cx="219456" cy="146304"/>
          </a:xfrm>
          <a:prstGeom prst="downArrow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tack layer"/>
          <p:cNvSpPr/>
          <p:nvPr/>
        </p:nvSpPr>
        <p:spPr>
          <a:xfrm>
            <a:off x="457200" y="2286000"/>
            <a:ext cx="5577840" cy="731520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3" name="Server circle"/>
          <p:cNvSpPr/>
          <p:nvPr/>
        </p:nvSpPr>
        <p:spPr>
          <a:xfrm>
            <a:off x="566928" y="2414016"/>
            <a:ext cx="475488" cy="475488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14" name="Server icon" descr="Serv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45" y="2528133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43000" y="2359152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API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606040" y="235915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Functions (Node 20, TypeScript): copilot · badge · classroom · chat</a:t>
            </a:r>
            <a:endParaRPr lang="en-US" sz="1100" dirty="0"/>
          </a:p>
        </p:txBody>
      </p:sp>
      <p:sp>
        <p:nvSpPr>
          <p:cNvPr id="17" name="flow arrow"/>
          <p:cNvSpPr/>
          <p:nvPr/>
        </p:nvSpPr>
        <p:spPr>
          <a:xfrm>
            <a:off x="3136392" y="3026664"/>
            <a:ext cx="219456" cy="146304"/>
          </a:xfrm>
          <a:prstGeom prst="downArrow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stack base"/>
          <p:cNvSpPr/>
          <p:nvPr/>
        </p:nvSpPr>
        <p:spPr>
          <a:xfrm>
            <a:off x="457200" y="3182112"/>
            <a:ext cx="1792224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9" name="Bot circle"/>
          <p:cNvSpPr/>
          <p:nvPr/>
        </p:nvSpPr>
        <p:spPr>
          <a:xfrm>
            <a:off x="548640" y="3273552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20" name="Bot icon" descr="Bo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3365724"/>
            <a:ext cx="199705" cy="19970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05840" y="3255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2.5 Flash (JSON mode)</a:t>
            </a:r>
            <a:endParaRPr lang="en-US" sz="1000" dirty="0"/>
          </a:p>
        </p:txBody>
      </p:sp>
      <p:sp>
        <p:nvSpPr>
          <p:cNvPr id="23" name="stack base"/>
          <p:cNvSpPr/>
          <p:nvPr/>
        </p:nvSpPr>
        <p:spPr>
          <a:xfrm>
            <a:off x="2350008" y="3182112"/>
            <a:ext cx="1792224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4" name="Database circle"/>
          <p:cNvSpPr/>
          <p:nvPr/>
        </p:nvSpPr>
        <p:spPr>
          <a:xfrm>
            <a:off x="2441448" y="327355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5" name="Database icon" descr="Databas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3620" y="3365724"/>
            <a:ext cx="199705" cy="19970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898648" y="3255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2441448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Blobs (class quizzes &amp; results)</a:t>
            </a:r>
            <a:endParaRPr lang="en-US" sz="1000" dirty="0"/>
          </a:p>
        </p:txBody>
      </p:sp>
      <p:sp>
        <p:nvSpPr>
          <p:cNvPr id="28" name="stack base"/>
          <p:cNvSpPr/>
          <p:nvPr/>
        </p:nvSpPr>
        <p:spPr>
          <a:xfrm>
            <a:off x="4242816" y="3182112"/>
            <a:ext cx="1792224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9" name="Lock circle"/>
          <p:cNvSpPr/>
          <p:nvPr/>
        </p:nvSpPr>
        <p:spPr>
          <a:xfrm>
            <a:off x="4334256" y="3273552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0" name="Lock icon" descr="Lo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6428" y="3365724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791456" y="3255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4334256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badges, keys on server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630936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HOW IT WORKS</a:t>
            </a:r>
            <a:endParaRPr lang="en-US" sz="1200" dirty="0"/>
          </a:p>
        </p:txBody>
      </p:sp>
      <p:sp>
        <p:nvSpPr>
          <p:cNvPr id="34" name="GraduationCap circle"/>
          <p:cNvSpPr/>
          <p:nvPr/>
        </p:nvSpPr>
        <p:spPr>
          <a:xfrm>
            <a:off x="6309360" y="1389888"/>
            <a:ext cx="310896" cy="310896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35" name="GraduationCap icon" descr="GraduationCap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3975" y="1464503"/>
            <a:ext cx="161666" cy="16166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693408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journey</a:t>
            </a:r>
            <a:endParaRPr lang="en-US" sz="1200" dirty="0"/>
          </a:p>
        </p:txBody>
      </p:sp>
      <p:sp>
        <p:nvSpPr>
          <p:cNvPr id="37" name="flow step"/>
          <p:cNvSpPr/>
          <p:nvPr/>
        </p:nvSpPr>
        <p:spPr>
          <a:xfrm>
            <a:off x="6309360" y="1773936"/>
            <a:ext cx="1133856" cy="713232"/>
          </a:xfrm>
          <a:prstGeom prst="homePlate">
            <a:avLst/>
          </a:prstGeom>
          <a:solidFill>
            <a:srgbClr val="EEF2FF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6382512" y="1792224"/>
            <a:ext cx="8961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12 subjects</a:t>
            </a:r>
            <a:endParaRPr lang="en-US" sz="1000" dirty="0"/>
          </a:p>
        </p:txBody>
      </p:sp>
      <p:sp>
        <p:nvSpPr>
          <p:cNvPr id="39" name="flow step"/>
          <p:cNvSpPr/>
          <p:nvPr/>
        </p:nvSpPr>
        <p:spPr>
          <a:xfrm>
            <a:off x="7397496" y="1773936"/>
            <a:ext cx="1133856" cy="713232"/>
          </a:xfrm>
          <a:prstGeom prst="chevron">
            <a:avLst/>
          </a:prstGeom>
          <a:solidFill>
            <a:srgbClr val="EEF2FF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7690104" y="179222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&amp; exams</a:t>
            </a:r>
            <a:endParaRPr lang="en-US" sz="1000" dirty="0"/>
          </a:p>
        </p:txBody>
      </p:sp>
      <p:sp>
        <p:nvSpPr>
          <p:cNvPr id="41" name="flow step"/>
          <p:cNvSpPr/>
          <p:nvPr/>
        </p:nvSpPr>
        <p:spPr>
          <a:xfrm>
            <a:off x="8485632" y="1773936"/>
            <a:ext cx="1133856" cy="713232"/>
          </a:xfrm>
          <a:prstGeom prst="chevron">
            <a:avLst/>
          </a:prstGeom>
          <a:solidFill>
            <a:srgbClr val="EEF2FF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778240" y="179222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map + plan</a:t>
            </a:r>
            <a:endParaRPr lang="en-US" sz="1000" dirty="0"/>
          </a:p>
        </p:txBody>
      </p:sp>
      <p:sp>
        <p:nvSpPr>
          <p:cNvPr id="43" name="flow step"/>
          <p:cNvSpPr/>
          <p:nvPr/>
        </p:nvSpPr>
        <p:spPr>
          <a:xfrm>
            <a:off x="9573768" y="1773936"/>
            <a:ext cx="1133856" cy="713232"/>
          </a:xfrm>
          <a:prstGeom prst="chevron">
            <a:avLst/>
          </a:prstGeom>
          <a:solidFill>
            <a:srgbClr val="EEF2FF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9866376" y="179222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badge</a:t>
            </a:r>
            <a:endParaRPr lang="en-US" sz="1000" dirty="0"/>
          </a:p>
        </p:txBody>
      </p:sp>
      <p:sp>
        <p:nvSpPr>
          <p:cNvPr id="45" name="flow step"/>
          <p:cNvSpPr/>
          <p:nvPr/>
        </p:nvSpPr>
        <p:spPr>
          <a:xfrm>
            <a:off x="10661904" y="1773936"/>
            <a:ext cx="1133856" cy="713232"/>
          </a:xfrm>
          <a:prstGeom prst="chevron">
            <a:avLst/>
          </a:prstGeom>
          <a:solidFill>
            <a:srgbClr val="1F2A6E"/>
          </a:solidFill>
          <a:ln w="9525">
            <a:solidFill>
              <a:srgbClr val="1F2A6E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10954512" y="179222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jobs</a:t>
            </a:r>
            <a:endParaRPr lang="en-US" sz="1000" dirty="0"/>
          </a:p>
        </p:txBody>
      </p:sp>
      <p:sp>
        <p:nvSpPr>
          <p:cNvPr id="47" name="Presentation circle"/>
          <p:cNvSpPr/>
          <p:nvPr/>
        </p:nvSpPr>
        <p:spPr>
          <a:xfrm>
            <a:off x="6309360" y="2624328"/>
            <a:ext cx="310896" cy="31089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48" name="Presentation icon" descr="Presentation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3975" y="2698943"/>
            <a:ext cx="161666" cy="161666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6693408" y="26243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loop</a:t>
            </a:r>
            <a:endParaRPr lang="en-US" sz="1200" dirty="0"/>
          </a:p>
        </p:txBody>
      </p:sp>
      <p:sp>
        <p:nvSpPr>
          <p:cNvPr id="50" name="flow step"/>
          <p:cNvSpPr/>
          <p:nvPr/>
        </p:nvSpPr>
        <p:spPr>
          <a:xfrm>
            <a:off x="6309360" y="3008376"/>
            <a:ext cx="1133856" cy="713232"/>
          </a:xfrm>
          <a:prstGeom prst="homePlate">
            <a:avLst/>
          </a:prstGeom>
          <a:solidFill>
            <a:srgbClr val="FFF4E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6382512" y="3026664"/>
            <a:ext cx="8961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topic</a:t>
            </a:r>
            <a:endParaRPr lang="en-US" sz="1000" dirty="0"/>
          </a:p>
        </p:txBody>
      </p:sp>
      <p:sp>
        <p:nvSpPr>
          <p:cNvPr id="52" name="flow step"/>
          <p:cNvSpPr/>
          <p:nvPr/>
        </p:nvSpPr>
        <p:spPr>
          <a:xfrm>
            <a:off x="7397496" y="3008376"/>
            <a:ext cx="1133856" cy="713232"/>
          </a:xfrm>
          <a:prstGeom prst="chevron">
            <a:avLst/>
          </a:prstGeom>
          <a:solidFill>
            <a:srgbClr val="FFF4E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690104" y="302666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lesson, paper or quiz</a:t>
            </a:r>
            <a:endParaRPr lang="en-US" sz="1000" dirty="0"/>
          </a:p>
        </p:txBody>
      </p:sp>
      <p:sp>
        <p:nvSpPr>
          <p:cNvPr id="54" name="flow step"/>
          <p:cNvSpPr/>
          <p:nvPr/>
        </p:nvSpPr>
        <p:spPr>
          <a:xfrm>
            <a:off x="8485632" y="3008376"/>
            <a:ext cx="1133856" cy="713232"/>
          </a:xfrm>
          <a:prstGeom prst="chevron">
            <a:avLst/>
          </a:prstGeom>
          <a:solidFill>
            <a:srgbClr val="FFF4E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8778240" y="302666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code on WhatsApp</a:t>
            </a:r>
            <a:endParaRPr lang="en-US" sz="1000" dirty="0"/>
          </a:p>
        </p:txBody>
      </p:sp>
      <p:sp>
        <p:nvSpPr>
          <p:cNvPr id="56" name="flow step"/>
          <p:cNvSpPr/>
          <p:nvPr/>
        </p:nvSpPr>
        <p:spPr>
          <a:xfrm>
            <a:off x="9573768" y="3008376"/>
            <a:ext cx="1133856" cy="713232"/>
          </a:xfrm>
          <a:prstGeom prst="chevron">
            <a:avLst/>
          </a:prstGeom>
          <a:solidFill>
            <a:srgbClr val="FFF4EB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9866376" y="302666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submit, no login</a:t>
            </a:r>
            <a:endParaRPr lang="en-US" sz="1000" dirty="0"/>
          </a:p>
        </p:txBody>
      </p:sp>
      <p:sp>
        <p:nvSpPr>
          <p:cNvPr id="58" name="flow step"/>
          <p:cNvSpPr/>
          <p:nvPr/>
        </p:nvSpPr>
        <p:spPr>
          <a:xfrm>
            <a:off x="10661904" y="3008376"/>
            <a:ext cx="1133856" cy="713232"/>
          </a:xfrm>
          <a:prstGeom prst="chevron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10954512" y="302666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→ re-teach</a:t>
            </a:r>
            <a:endParaRPr lang="en-US" sz="1000" dirty="0"/>
          </a:p>
        </p:txBody>
      </p:sp>
      <p:sp>
        <p:nvSpPr>
          <p:cNvPr id="60" name="Text 51"/>
          <p:cNvSpPr txBox="1"/>
          <p:nvPr/>
        </p:nvSpPr>
        <p:spPr>
          <a:xfrm>
            <a:off x="6309360" y="38039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 </a:t>
            </a:r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build–test sprints · Playwright end-to-end tests · GitHub → Netlify auto-deploy</a:t>
            </a:r>
            <a:endParaRPr lang="en-US" sz="1050" dirty="0"/>
          </a:p>
        </p:txBody>
      </p:sp>
      <p:sp>
        <p:nvSpPr>
          <p:cNvPr id="61" name="Text 52"/>
          <p:cNvSpPr txBox="1"/>
          <p:nvPr/>
        </p:nvSpPr>
        <p:spPr>
          <a:xfrm>
            <a:off x="457200" y="4160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— REAL SCREENS</a:t>
            </a:r>
            <a:endParaRPr lang="en-US" sz="1200" dirty="0"/>
          </a:p>
        </p:txBody>
      </p:sp>
      <p:sp>
        <p:nvSpPr>
          <p:cNvPr id="62" name="phone bezel"/>
          <p:cNvSpPr/>
          <p:nvPr/>
        </p:nvSpPr>
        <p:spPr>
          <a:xfrm>
            <a:off x="484632" y="4443984"/>
            <a:ext cx="1097280" cy="1874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pic>
        <p:nvPicPr>
          <p:cNvPr id="63" name="phone screen" descr="Student phone view of a c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553712"/>
            <a:ext cx="932688" cy="1673352"/>
          </a:xfrm>
          <a:prstGeom prst="rect">
            <a:avLst/>
          </a:prstGeom>
        </p:spPr>
      </p:pic>
      <p:sp>
        <p:nvSpPr>
          <p:cNvPr id="64" name="screenshot frame"/>
          <p:cNvSpPr/>
          <p:nvPr/>
        </p:nvSpPr>
        <p:spPr>
          <a:xfrm>
            <a:off x="1737360" y="4453128"/>
            <a:ext cx="3639312" cy="1810512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pic>
        <p:nvPicPr>
          <p:cNvPr id="65" name="screenshot gap-crop.png" descr="Skill gap map screensho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83080" y="4498848"/>
            <a:ext cx="3547872" cy="1719072"/>
          </a:xfrm>
          <a:prstGeom prst="rect">
            <a:avLst/>
          </a:prstGeom>
        </p:spPr>
      </p:pic>
      <p:sp>
        <p:nvSpPr>
          <p:cNvPr id="66" name="Text 55"/>
          <p:cNvSpPr txBox="1"/>
          <p:nvPr/>
        </p:nvSpPr>
        <p:spPr>
          <a:xfrm>
            <a:off x="1783080" y="626364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phone: verified-teacher class · Gap map: 23% job-ready</a:t>
            </a:r>
            <a:endParaRPr lang="en-US" sz="900" dirty="0"/>
          </a:p>
        </p:txBody>
      </p:sp>
      <p:sp>
        <p:nvSpPr>
          <p:cNvPr id="67" name="link card"/>
          <p:cNvSpPr/>
          <p:nvPr/>
        </p:nvSpPr>
        <p:spPr>
          <a:xfrm>
            <a:off x="6309360" y="4206240"/>
            <a:ext cx="176479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8" name="Github circle"/>
          <p:cNvSpPr/>
          <p:nvPr/>
        </p:nvSpPr>
        <p:spPr>
          <a:xfrm>
            <a:off x="6400800" y="4297680"/>
            <a:ext cx="329184" cy="32918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pic>
        <p:nvPicPr>
          <p:cNvPr id="69" name="Github icon" descr="Github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9804" y="4376684"/>
            <a:ext cx="171176" cy="171176"/>
          </a:xfrm>
          <a:prstGeom prst="rect">
            <a:avLst/>
          </a:prstGeom>
        </p:spPr>
      </p:pic>
      <p:sp>
        <p:nvSpPr>
          <p:cNvPr id="70" name="Text 58"/>
          <p:cNvSpPr txBox="1"/>
          <p:nvPr/>
        </p:nvSpPr>
        <p:spPr>
          <a:xfrm>
            <a:off x="6784848" y="42976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00" dirty="0"/>
          </a:p>
        </p:txBody>
      </p:sp>
      <p:sp>
        <p:nvSpPr>
          <p:cNvPr id="71" name="Text 59">
            <a:hlinkClick r:id="rId11" tooltip=""/>
          </p:cNvPr>
          <p:cNvSpPr txBox="1"/>
          <p:nvPr/>
        </p:nvSpPr>
        <p:spPr>
          <a:xfrm>
            <a:off x="6400800" y="4663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prakharporwal518-collab/</a:t>
            </a:r>
            <a:endParaRPr lang="en-US" sz="950" dirty="0"/>
          </a:p>
          <a:p>
            <a:pPr indent="0" marL="0">
              <a:buNone/>
            </a:pPr>
            <a:r>
              <a:rPr lang="en-US" sz="9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Student-Setu</a:t>
            </a:r>
            <a:endParaRPr lang="en-US" sz="950" dirty="0"/>
          </a:p>
        </p:txBody>
      </p:sp>
      <p:sp>
        <p:nvSpPr>
          <p:cNvPr id="72" name="link card"/>
          <p:cNvSpPr/>
          <p:nvPr/>
        </p:nvSpPr>
        <p:spPr>
          <a:xfrm>
            <a:off x="8138160" y="4206240"/>
            <a:ext cx="176479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73" name="Globe circle"/>
          <p:cNvSpPr/>
          <p:nvPr/>
        </p:nvSpPr>
        <p:spPr>
          <a:xfrm>
            <a:off x="8229600" y="4297680"/>
            <a:ext cx="329184" cy="32918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74" name="Globe icon" descr="Globe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08604" y="4376684"/>
            <a:ext cx="171176" cy="171176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8613648" y="42976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76" name="Text 63">
            <a:hlinkClick r:id="rId13" tooltip=""/>
          </p:cNvPr>
          <p:cNvSpPr txBox="1"/>
          <p:nvPr/>
        </p:nvSpPr>
        <p:spPr>
          <a:xfrm>
            <a:off x="8229600" y="4663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studentsetuconnect.netlify.app</a:t>
            </a:r>
            <a:endParaRPr lang="en-US" sz="950" dirty="0"/>
          </a:p>
        </p:txBody>
      </p:sp>
      <p:sp>
        <p:nvSpPr>
          <p:cNvPr id="77" name="link card"/>
          <p:cNvSpPr/>
          <p:nvPr/>
        </p:nvSpPr>
        <p:spPr>
          <a:xfrm>
            <a:off x="9966960" y="4206240"/>
            <a:ext cx="176479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78" name="CirclePlay circle"/>
          <p:cNvSpPr/>
          <p:nvPr/>
        </p:nvSpPr>
        <p:spPr>
          <a:xfrm>
            <a:off x="10058400" y="4297680"/>
            <a:ext cx="329184" cy="32918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79" name="CirclePlay icon" descr="CirclePlay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37404" y="4376684"/>
            <a:ext cx="171176" cy="171176"/>
          </a:xfrm>
          <a:prstGeom prst="rect">
            <a:avLst/>
          </a:prstGeom>
        </p:spPr>
      </p:pic>
      <p:sp>
        <p:nvSpPr>
          <p:cNvPr id="80" name="Text 66"/>
          <p:cNvSpPr txBox="1"/>
          <p:nvPr/>
        </p:nvSpPr>
        <p:spPr>
          <a:xfrm>
            <a:off x="10442448" y="42976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200" dirty="0"/>
          </a:p>
        </p:txBody>
      </p:sp>
      <p:sp>
        <p:nvSpPr>
          <p:cNvPr id="81" name="Text 67">
            <a:hlinkClick r:id="rId15" tooltip=""/>
          </p:cNvPr>
          <p:cNvSpPr txBox="1"/>
          <p:nvPr/>
        </p:nvSpPr>
        <p:spPr>
          <a:xfrm>
            <a:off x="10058400" y="4663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3:45 demo ▶</a:t>
            </a:r>
            <a:endParaRPr lang="en-US" sz="950" dirty="0"/>
          </a:p>
        </p:txBody>
      </p:sp>
      <p:sp>
        <p:nvSpPr>
          <p:cNvPr id="82" name="ai usage card"/>
          <p:cNvSpPr/>
          <p:nvPr/>
        </p:nvSpPr>
        <p:spPr>
          <a:xfrm>
            <a:off x="6309360" y="5138928"/>
            <a:ext cx="5422392" cy="1115568"/>
          </a:xfrm>
          <a:prstGeom prst="roundRect">
            <a:avLst>
              <a:gd name="adj" fmla="val 9836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83" name="Sparkles circle"/>
          <p:cNvSpPr/>
          <p:nvPr/>
        </p:nvSpPr>
        <p:spPr>
          <a:xfrm>
            <a:off x="6419088" y="5230368"/>
            <a:ext cx="365760" cy="3657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84" name="Sparkles icon" descr="Sparkles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06870" y="5318150"/>
            <a:ext cx="190195" cy="190195"/>
          </a:xfrm>
          <a:prstGeom prst="rect">
            <a:avLst/>
          </a:prstGeom>
        </p:spPr>
      </p:pic>
      <p:sp>
        <p:nvSpPr>
          <p:cNvPr id="85" name="Text 70"/>
          <p:cNvSpPr txBox="1"/>
          <p:nvPr/>
        </p:nvSpPr>
        <p:spPr>
          <a:xfrm>
            <a:off x="6858000" y="5230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 of AI usage</a:t>
            </a:r>
            <a:endParaRPr lang="en-US" sz="1300" dirty="0"/>
          </a:p>
        </p:txBody>
      </p:sp>
      <p:sp>
        <p:nvSpPr>
          <p:cNvPr id="86" name="Text 71"/>
          <p:cNvSpPr txBox="1"/>
          <p:nvPr/>
        </p:nvSpPr>
        <p:spPr>
          <a:xfrm>
            <a:off x="6446520" y="561441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writes lesson plans, papers, quizzes, coach tips &amp; chat replies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JSON schema, key on server, “review before use”, template fallback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where trust matters: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grading &amp; badge signing are deterministic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AI assistant for coding &amp; testing, reviewed by the team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Potential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YuvaNex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IMPACT ON THE TARGET AUDIENCE</a:t>
            </a:r>
            <a:endParaRPr lang="en-US" sz="1200" dirty="0"/>
          </a:p>
        </p:txBody>
      </p:sp>
      <p:sp>
        <p:nvSpPr>
          <p:cNvPr id="6" name="audience card"/>
          <p:cNvSpPr/>
          <p:nvPr/>
        </p:nvSpPr>
        <p:spPr>
          <a:xfrm>
            <a:off x="457200" y="1389888"/>
            <a:ext cx="54864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7" name="School circle"/>
          <p:cNvSpPr/>
          <p:nvPr/>
        </p:nvSpPr>
        <p:spPr>
          <a:xfrm>
            <a:off x="566928" y="1490472"/>
            <a:ext cx="438912" cy="43891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8" name="School icon" descr="School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1595811"/>
            <a:ext cx="228234" cy="2282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14356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students</a:t>
            </a:r>
            <a:endParaRPr lang="en-US" sz="1300" dirty="0"/>
          </a:p>
        </p:txBody>
      </p:sp>
      <p:sp>
        <p:nvSpPr>
          <p:cNvPr id="10" name="reach tag"/>
          <p:cNvSpPr/>
          <p:nvPr/>
        </p:nvSpPr>
        <p:spPr>
          <a:xfrm>
            <a:off x="3611880" y="1453896"/>
            <a:ext cx="2194560" cy="228600"/>
          </a:xfrm>
          <a:prstGeom prst="roundRect">
            <a:avLst>
              <a:gd name="adj" fmla="val 48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4538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9–12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169164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course &amp; exam for their subjects · roadmap &amp; free notes · Plan B careers</a:t>
            </a:r>
            <a:endParaRPr lang="en-US" sz="1000" dirty="0"/>
          </a:p>
        </p:txBody>
      </p:sp>
      <p:sp>
        <p:nvSpPr>
          <p:cNvPr id="13" name="audience card"/>
          <p:cNvSpPr/>
          <p:nvPr/>
        </p:nvSpPr>
        <p:spPr>
          <a:xfrm>
            <a:off x="457200" y="2103120"/>
            <a:ext cx="54864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4" name="GraduationCap circle"/>
          <p:cNvSpPr/>
          <p:nvPr/>
        </p:nvSpPr>
        <p:spPr>
          <a:xfrm>
            <a:off x="566928" y="2203704"/>
            <a:ext cx="438912" cy="43891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15" name="GraduationCap icon" descr="GraduationCa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2309043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43000" y="2148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students</a:t>
            </a:r>
            <a:endParaRPr lang="en-US" sz="1300" dirty="0"/>
          </a:p>
        </p:txBody>
      </p:sp>
      <p:sp>
        <p:nvSpPr>
          <p:cNvPr id="17" name="reach tag"/>
          <p:cNvSpPr/>
          <p:nvPr/>
        </p:nvSpPr>
        <p:spPr>
          <a:xfrm>
            <a:off x="3611880" y="2167128"/>
            <a:ext cx="2194560" cy="228600"/>
          </a:xfrm>
          <a:prstGeom prst="roundRect">
            <a:avLst>
              <a:gd name="adj" fmla="val 48000"/>
            </a:avLst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611880" y="21671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4.33 Cr in higher education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240487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job-skill gap from Semester 1 · free personal plan · skill proof employers can verify</a:t>
            </a:r>
            <a:endParaRPr lang="en-US" sz="1000" dirty="0"/>
          </a:p>
        </p:txBody>
      </p:sp>
      <p:sp>
        <p:nvSpPr>
          <p:cNvPr id="20" name="audience card"/>
          <p:cNvSpPr/>
          <p:nvPr/>
        </p:nvSpPr>
        <p:spPr>
          <a:xfrm>
            <a:off x="457200" y="2816352"/>
            <a:ext cx="54864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1" name="Presentation circle"/>
          <p:cNvSpPr/>
          <p:nvPr/>
        </p:nvSpPr>
        <p:spPr>
          <a:xfrm>
            <a:off x="566928" y="2916936"/>
            <a:ext cx="438912" cy="43891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22" name="Presentation icon" descr="Presentatio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022275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143000" y="28620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300" dirty="0"/>
          </a:p>
        </p:txBody>
      </p:sp>
      <p:sp>
        <p:nvSpPr>
          <p:cNvPr id="24" name="reach tag"/>
          <p:cNvSpPr/>
          <p:nvPr/>
        </p:nvSpPr>
        <p:spPr>
          <a:xfrm>
            <a:off x="3611880" y="2880360"/>
            <a:ext cx="2194560" cy="228600"/>
          </a:xfrm>
          <a:prstGeom prst="roundRect">
            <a:avLst>
              <a:gd name="adj" fmla="val 48000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11880" y="28803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15.98 L faculty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1143000" y="311810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 &amp; quizzes in minutes · see what the class missed · re-teach with data</a:t>
            </a:r>
            <a:endParaRPr lang="en-US" sz="1000" dirty="0"/>
          </a:p>
        </p:txBody>
      </p:sp>
      <p:sp>
        <p:nvSpPr>
          <p:cNvPr id="27" name="audience card"/>
          <p:cNvSpPr/>
          <p:nvPr/>
        </p:nvSpPr>
        <p:spPr>
          <a:xfrm>
            <a:off x="457200" y="3529584"/>
            <a:ext cx="54864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8" name="Briefcase circle"/>
          <p:cNvSpPr/>
          <p:nvPr/>
        </p:nvSpPr>
        <p:spPr>
          <a:xfrm>
            <a:off x="566928" y="3630168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9" name="Briefcase icon" descr="Briefcas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7" y="3735507"/>
            <a:ext cx="228234" cy="22823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143000" y="35753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 &amp; trade learners</a:t>
            </a:r>
            <a:endParaRPr lang="en-US" sz="1300" dirty="0"/>
          </a:p>
        </p:txBody>
      </p:sp>
      <p:sp>
        <p:nvSpPr>
          <p:cNvPr id="31" name="reach tag"/>
          <p:cNvSpPr/>
          <p:nvPr/>
        </p:nvSpPr>
        <p:spPr>
          <a:xfrm>
            <a:off x="3611880" y="3593592"/>
            <a:ext cx="2194560" cy="228600"/>
          </a:xfrm>
          <a:prstGeom prst="roundRect">
            <a:avLst>
              <a:gd name="adj" fmla="val 48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3611880" y="35935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~96% lack formal training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1143000" y="383133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matched to verified skills · Hindi trade courses · SIDF startup support &amp; funding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630936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200" dirty="0"/>
          </a:p>
        </p:txBody>
      </p:sp>
      <p:sp>
        <p:nvSpPr>
          <p:cNvPr id="35" name="stakeholder link"/>
          <p:cNvSpPr/>
          <p:nvPr/>
        </p:nvSpPr>
        <p:spPr>
          <a:xfrm>
            <a:off x="7269480" y="1682496"/>
            <a:ext cx="174650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6" name="stakeholder link"/>
          <p:cNvSpPr/>
          <p:nvPr/>
        </p:nvSpPr>
        <p:spPr>
          <a:xfrm flipH="1">
            <a:off x="9015984" y="1682496"/>
            <a:ext cx="91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7" name="stakeholder link"/>
          <p:cNvSpPr/>
          <p:nvPr/>
        </p:nvSpPr>
        <p:spPr>
          <a:xfrm flipH="1">
            <a:off x="9015984" y="1682496"/>
            <a:ext cx="174650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8" name="stakeholder link"/>
          <p:cNvSpPr/>
          <p:nvPr/>
        </p:nvSpPr>
        <p:spPr>
          <a:xfrm flipH="1">
            <a:off x="7150608" y="2852928"/>
            <a:ext cx="1865376" cy="914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9" name="stakeholder link"/>
          <p:cNvSpPr/>
          <p:nvPr/>
        </p:nvSpPr>
        <p:spPr>
          <a:xfrm>
            <a:off x="9015984" y="2852928"/>
            <a:ext cx="1865376" cy="914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0" name="stakeholder link"/>
          <p:cNvSpPr/>
          <p:nvPr/>
        </p:nvSpPr>
        <p:spPr>
          <a:xfrm flipH="1">
            <a:off x="7269480" y="2852928"/>
            <a:ext cx="174650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1" name="stakeholder link"/>
          <p:cNvSpPr/>
          <p:nvPr/>
        </p:nvSpPr>
        <p:spPr>
          <a:xfrm>
            <a:off x="9015984" y="2852928"/>
            <a:ext cx="91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2" name="stakeholder link"/>
          <p:cNvSpPr/>
          <p:nvPr/>
        </p:nvSpPr>
        <p:spPr>
          <a:xfrm>
            <a:off x="9015984" y="2852928"/>
            <a:ext cx="1746504" cy="1170432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3" name="hub"/>
          <p:cNvSpPr/>
          <p:nvPr/>
        </p:nvSpPr>
        <p:spPr>
          <a:xfrm>
            <a:off x="8375904" y="2212848"/>
            <a:ext cx="1280160" cy="1280160"/>
          </a:xfrm>
          <a:prstGeom prst="ellipse">
            <a:avLst/>
          </a:prstGeom>
          <a:solidFill>
            <a:srgbClr val="1F2A6E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4" name="Text 38"/>
          <p:cNvSpPr txBox="1"/>
          <p:nvPr/>
        </p:nvSpPr>
        <p:spPr>
          <a:xfrm>
            <a:off x="8375904" y="2212848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</a:t>
            </a:r>
            <a:endParaRPr lang="en-US" sz="1700" dirty="0"/>
          </a:p>
        </p:txBody>
      </p:sp>
      <p:sp>
        <p:nvSpPr>
          <p:cNvPr id="45" name="stakeholder"/>
          <p:cNvSpPr/>
          <p:nvPr/>
        </p:nvSpPr>
        <p:spPr>
          <a:xfrm>
            <a:off x="6446520" y="1417320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1F2A6E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6" name="Text 40"/>
          <p:cNvSpPr txBox="1"/>
          <p:nvPr/>
        </p:nvSpPr>
        <p:spPr>
          <a:xfrm>
            <a:off x="6483096" y="1417320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050" dirty="0"/>
          </a:p>
        </p:txBody>
      </p:sp>
      <p:sp>
        <p:nvSpPr>
          <p:cNvPr id="47" name="stakeholder"/>
          <p:cNvSpPr/>
          <p:nvPr/>
        </p:nvSpPr>
        <p:spPr>
          <a:xfrm>
            <a:off x="8193024" y="1417320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8" name="Text 42"/>
          <p:cNvSpPr txBox="1"/>
          <p:nvPr/>
        </p:nvSpPr>
        <p:spPr>
          <a:xfrm>
            <a:off x="8229600" y="1417320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050" dirty="0"/>
          </a:p>
        </p:txBody>
      </p:sp>
      <p:sp>
        <p:nvSpPr>
          <p:cNvPr id="49" name="stakeholder"/>
          <p:cNvSpPr/>
          <p:nvPr/>
        </p:nvSpPr>
        <p:spPr>
          <a:xfrm>
            <a:off x="9939528" y="1417320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0" name="Text 44"/>
          <p:cNvSpPr txBox="1"/>
          <p:nvPr/>
        </p:nvSpPr>
        <p:spPr>
          <a:xfrm>
            <a:off x="9976104" y="1417320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&amp; universities</a:t>
            </a:r>
            <a:endParaRPr lang="en-US" sz="1050" dirty="0"/>
          </a:p>
        </p:txBody>
      </p:sp>
      <p:sp>
        <p:nvSpPr>
          <p:cNvPr id="51" name="stakeholder"/>
          <p:cNvSpPr/>
          <p:nvPr/>
        </p:nvSpPr>
        <p:spPr>
          <a:xfrm>
            <a:off x="6327648" y="2587752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2" name="Text 46"/>
          <p:cNvSpPr txBox="1"/>
          <p:nvPr/>
        </p:nvSpPr>
        <p:spPr>
          <a:xfrm>
            <a:off x="6364224" y="258775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&amp; recruiters</a:t>
            </a:r>
            <a:endParaRPr lang="en-US" sz="1050" dirty="0"/>
          </a:p>
        </p:txBody>
      </p:sp>
      <p:sp>
        <p:nvSpPr>
          <p:cNvPr id="53" name="stakeholder"/>
          <p:cNvSpPr/>
          <p:nvPr/>
        </p:nvSpPr>
        <p:spPr>
          <a:xfrm>
            <a:off x="10058400" y="2587752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4" name="Text 48"/>
          <p:cNvSpPr txBox="1"/>
          <p:nvPr/>
        </p:nvSpPr>
        <p:spPr>
          <a:xfrm>
            <a:off x="10094976" y="258775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Govt: Skill India, AICTE, Startup India</a:t>
            </a:r>
            <a:endParaRPr lang="en-US" sz="1050" dirty="0"/>
          </a:p>
        </p:txBody>
      </p:sp>
      <p:sp>
        <p:nvSpPr>
          <p:cNvPr id="55" name="stakeholder"/>
          <p:cNvSpPr/>
          <p:nvPr/>
        </p:nvSpPr>
        <p:spPr>
          <a:xfrm>
            <a:off x="6446520" y="3758184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6" name="Text 50"/>
          <p:cNvSpPr txBox="1"/>
          <p:nvPr/>
        </p:nvSpPr>
        <p:spPr>
          <a:xfrm>
            <a:off x="6483096" y="3758184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</a:t>
            </a:r>
            <a:endParaRPr lang="en-US" sz="1050" dirty="0"/>
          </a:p>
        </p:txBody>
      </p:sp>
      <p:sp>
        <p:nvSpPr>
          <p:cNvPr id="57" name="stakeholder"/>
          <p:cNvSpPr/>
          <p:nvPr/>
        </p:nvSpPr>
        <p:spPr>
          <a:xfrm>
            <a:off x="8193024" y="3758184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58" name="Text 52"/>
          <p:cNvSpPr txBox="1"/>
          <p:nvPr/>
        </p:nvSpPr>
        <p:spPr>
          <a:xfrm>
            <a:off x="8229600" y="3758184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&amp; counsellors</a:t>
            </a:r>
            <a:endParaRPr lang="en-US" sz="1050" dirty="0"/>
          </a:p>
        </p:txBody>
      </p:sp>
      <p:sp>
        <p:nvSpPr>
          <p:cNvPr id="59" name="stakeholder"/>
          <p:cNvSpPr/>
          <p:nvPr/>
        </p:nvSpPr>
        <p:spPr>
          <a:xfrm>
            <a:off x="9939528" y="3758184"/>
            <a:ext cx="164592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0" name="Text 54"/>
          <p:cNvSpPr txBox="1"/>
          <p:nvPr/>
        </p:nvSpPr>
        <p:spPr>
          <a:xfrm>
            <a:off x="9976104" y="3758184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Hostel &amp; tiffin providers</a:t>
            </a:r>
            <a:endParaRPr lang="en-US" sz="1050" dirty="0"/>
          </a:p>
        </p:txBody>
      </p:sp>
      <p:sp>
        <p:nvSpPr>
          <p:cNvPr id="61" name="Text 55"/>
          <p:cNvSpPr txBox="1"/>
          <p:nvPr/>
        </p:nvSpPr>
        <p:spPr>
          <a:xfrm>
            <a:off x="457200" y="44165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THE SOLUTION</a:t>
            </a:r>
            <a:endParaRPr lang="en-US" sz="1200" dirty="0"/>
          </a:p>
        </p:txBody>
      </p:sp>
      <p:sp>
        <p:nvSpPr>
          <p:cNvPr id="62" name="benefit card"/>
          <p:cNvSpPr/>
          <p:nvPr/>
        </p:nvSpPr>
        <p:spPr>
          <a:xfrm>
            <a:off x="457200" y="4709160"/>
            <a:ext cx="2697480" cy="1536192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3" name="HeartHandshake circle"/>
          <p:cNvSpPr/>
          <p:nvPr/>
        </p:nvSpPr>
        <p:spPr>
          <a:xfrm>
            <a:off x="594360" y="4828032"/>
            <a:ext cx="438912" cy="438912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4" name="HeartHandshake icon" descr="HeartHandshak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699" y="4933371"/>
            <a:ext cx="228234" cy="228234"/>
          </a:xfrm>
          <a:prstGeom prst="rect">
            <a:avLst/>
          </a:prstGeom>
        </p:spPr>
      </p:pic>
      <p:sp>
        <p:nvSpPr>
          <p:cNvPr id="65" name="Text 58"/>
          <p:cNvSpPr txBox="1"/>
          <p:nvPr/>
        </p:nvSpPr>
        <p:spPr>
          <a:xfrm>
            <a:off x="1143000" y="482803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400" dirty="0"/>
          </a:p>
        </p:txBody>
      </p:sp>
      <p:sp>
        <p:nvSpPr>
          <p:cNvPr id="66" name="Text 59"/>
          <p:cNvSpPr txBox="1"/>
          <p:nvPr/>
        </p:nvSpPr>
        <p:spPr>
          <a:xfrm>
            <a:off x="594360" y="5358384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 for rural &amp; Hindi-medium learners; Plan B careers &amp; free counselling ease exam stress</a:t>
            </a:r>
            <a:endParaRPr lang="en-US" sz="1150" dirty="0"/>
          </a:p>
        </p:txBody>
      </p:sp>
      <p:sp>
        <p:nvSpPr>
          <p:cNvPr id="67" name="benefit card"/>
          <p:cNvSpPr/>
          <p:nvPr/>
        </p:nvSpPr>
        <p:spPr>
          <a:xfrm>
            <a:off x="3319272" y="4709160"/>
            <a:ext cx="2697480" cy="1536192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8" name="IndianRupee circle"/>
          <p:cNvSpPr/>
          <p:nvPr/>
        </p:nvSpPr>
        <p:spPr>
          <a:xfrm>
            <a:off x="3456432" y="4828032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69" name="IndianRupee icon" descr="IndianRupe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1771" y="4933371"/>
            <a:ext cx="228234" cy="228234"/>
          </a:xfrm>
          <a:prstGeom prst="rect">
            <a:avLst/>
          </a:prstGeom>
        </p:spPr>
      </p:pic>
      <p:sp>
        <p:nvSpPr>
          <p:cNvPr id="70" name="Text 62"/>
          <p:cNvSpPr txBox="1"/>
          <p:nvPr/>
        </p:nvSpPr>
        <p:spPr>
          <a:xfrm>
            <a:off x="4005072" y="482803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400" dirty="0"/>
          </a:p>
        </p:txBody>
      </p:sp>
      <p:sp>
        <p:nvSpPr>
          <p:cNvPr id="71" name="Text 63"/>
          <p:cNvSpPr txBox="1"/>
          <p:nvPr/>
        </p:nvSpPr>
        <p:spPr>
          <a:xfrm>
            <a:off x="3456432" y="5358384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 for learners, free courses, verified skills → better jobs &amp; wages; saves teachers’ prep hours</a:t>
            </a:r>
            <a:endParaRPr lang="en-US" sz="1150" dirty="0"/>
          </a:p>
        </p:txBody>
      </p:sp>
      <p:sp>
        <p:nvSpPr>
          <p:cNvPr id="72" name="benefit card"/>
          <p:cNvSpPr/>
          <p:nvPr/>
        </p:nvSpPr>
        <p:spPr>
          <a:xfrm>
            <a:off x="6181344" y="4709160"/>
            <a:ext cx="2697480" cy="1536192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3" name="BookOpen circle"/>
          <p:cNvSpPr/>
          <p:nvPr/>
        </p:nvSpPr>
        <p:spPr>
          <a:xfrm>
            <a:off x="6318504" y="4828032"/>
            <a:ext cx="438912" cy="43891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74" name="BookOpen icon" descr="BookOpen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3843" y="4933371"/>
            <a:ext cx="228234" cy="228234"/>
          </a:xfrm>
          <a:prstGeom prst="rect">
            <a:avLst/>
          </a:prstGeom>
        </p:spPr>
      </p:pic>
      <p:sp>
        <p:nvSpPr>
          <p:cNvPr id="75" name="Text 66"/>
          <p:cNvSpPr txBox="1"/>
          <p:nvPr/>
        </p:nvSpPr>
        <p:spPr>
          <a:xfrm>
            <a:off x="6867144" y="482803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</a:t>
            </a:r>
            <a:endParaRPr lang="en-US" sz="1400" dirty="0"/>
          </a:p>
        </p:txBody>
      </p:sp>
      <p:sp>
        <p:nvSpPr>
          <p:cNvPr id="76" name="Text 67"/>
          <p:cNvSpPr txBox="1"/>
          <p:nvPr/>
        </p:nvSpPr>
        <p:spPr>
          <a:xfrm>
            <a:off x="6318504" y="5358384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Topic-level outcome data; aligned with NEP 2020 — multilingual, vocational &amp; competency-based</a:t>
            </a:r>
            <a:endParaRPr lang="en-US" sz="1150" dirty="0"/>
          </a:p>
        </p:txBody>
      </p:sp>
      <p:sp>
        <p:nvSpPr>
          <p:cNvPr id="77" name="benefit card"/>
          <p:cNvSpPr/>
          <p:nvPr/>
        </p:nvSpPr>
        <p:spPr>
          <a:xfrm>
            <a:off x="9043416" y="4709160"/>
            <a:ext cx="2697480" cy="1536192"/>
          </a:xfrm>
          <a:prstGeom prst="roundRect">
            <a:avLst>
              <a:gd name="adj" fmla="val 714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8" name="Building2 circle"/>
          <p:cNvSpPr/>
          <p:nvPr/>
        </p:nvSpPr>
        <p:spPr>
          <a:xfrm>
            <a:off x="9180576" y="482803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9" name="Building2 icon" descr="Building2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5915" y="4933371"/>
            <a:ext cx="228234" cy="228234"/>
          </a:xfrm>
          <a:prstGeom prst="rect">
            <a:avLst/>
          </a:prstGeom>
        </p:spPr>
      </p:pic>
      <p:sp>
        <p:nvSpPr>
          <p:cNvPr id="80" name="Text 70"/>
          <p:cNvSpPr txBox="1"/>
          <p:nvPr/>
        </p:nvSpPr>
        <p:spPr>
          <a:xfrm>
            <a:off x="9729216" y="482803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</a:t>
            </a:r>
            <a:endParaRPr lang="en-US" sz="1400" dirty="0"/>
          </a:p>
        </p:txBody>
      </p:sp>
      <p:sp>
        <p:nvSpPr>
          <p:cNvPr id="81" name="Text 71"/>
          <p:cNvSpPr txBox="1"/>
          <p:nvPr/>
        </p:nvSpPr>
        <p:spPr>
          <a:xfrm>
            <a:off x="9180576" y="5358384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see syllabus-vs-industry gaps to update curriculum; employers hire on verified skills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and Risk Analysis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YuvaNex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— ALREADY PROVEN BY A LIVE PROTOTYPE</a:t>
            </a:r>
            <a:endParaRPr lang="en-US" sz="1200" dirty="0"/>
          </a:p>
        </p:txBody>
      </p:sp>
      <p:sp>
        <p:nvSpPr>
          <p:cNvPr id="6" name="feasibility tile"/>
          <p:cNvSpPr/>
          <p:nvPr/>
        </p:nvSpPr>
        <p:spPr>
          <a:xfrm>
            <a:off x="457200" y="1389888"/>
            <a:ext cx="2697480" cy="1024128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7" name="Cpu circle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8" name="Cpu icon" descr="Cpu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184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500" dirty="0"/>
          </a:p>
        </p:txBody>
      </p:sp>
      <p:pic>
        <p:nvPicPr>
          <p:cNvPr id="10" name="CircleCheck icon" descr="CircleChe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5448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" y="19568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30+ pages, 4 serverless functions; key flows tested end-to-end</a:t>
            </a:r>
            <a:endParaRPr lang="en-US" sz="1050" dirty="0"/>
          </a:p>
        </p:txBody>
      </p:sp>
      <p:sp>
        <p:nvSpPr>
          <p:cNvPr id="12" name="feasibility tile"/>
          <p:cNvSpPr/>
          <p:nvPr/>
        </p:nvSpPr>
        <p:spPr>
          <a:xfrm>
            <a:off x="3319272" y="1389888"/>
            <a:ext cx="2697480" cy="1024128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3" name="IndianRupee circle"/>
          <p:cNvSpPr/>
          <p:nvPr/>
        </p:nvSpPr>
        <p:spPr>
          <a:xfrm>
            <a:off x="3456432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4" name="IndianRupee icon" descr="IndianRupe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61848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05072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500" dirty="0"/>
          </a:p>
        </p:txBody>
      </p:sp>
      <p:pic>
        <p:nvPicPr>
          <p:cNvPr id="16" name="CircleCheck icon" descr="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1554480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456432" y="19568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~₹0 at pilot scale on free tiers (Netlify, Gemini); no app-store cost</a:t>
            </a:r>
            <a:endParaRPr lang="en-US" sz="1050" dirty="0"/>
          </a:p>
        </p:txBody>
      </p:sp>
      <p:sp>
        <p:nvSpPr>
          <p:cNvPr id="18" name="feasibility tile"/>
          <p:cNvSpPr/>
          <p:nvPr/>
        </p:nvSpPr>
        <p:spPr>
          <a:xfrm>
            <a:off x="6181344" y="1389888"/>
            <a:ext cx="2697480" cy="1024128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9" name="Smartphone circle"/>
          <p:cNvSpPr/>
          <p:nvPr/>
        </p:nvSpPr>
        <p:spPr>
          <a:xfrm>
            <a:off x="6318504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0" name="Smartphone icon" descr="Smartphon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1618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867144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500" dirty="0"/>
          </a:p>
        </p:txBody>
      </p:sp>
      <p:pic>
        <p:nvPicPr>
          <p:cNvPr id="22" name="CircleCheck icon" descr="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1554480"/>
            <a:ext cx="329184" cy="32918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318504" y="19568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phone browser; students need no login; English + Hindi</a:t>
            </a:r>
            <a:endParaRPr lang="en-US" sz="1050" dirty="0"/>
          </a:p>
        </p:txBody>
      </p:sp>
      <p:sp>
        <p:nvSpPr>
          <p:cNvPr id="24" name="feasibility tile"/>
          <p:cNvSpPr/>
          <p:nvPr/>
        </p:nvSpPr>
        <p:spPr>
          <a:xfrm>
            <a:off x="9043416" y="1389888"/>
            <a:ext cx="2697480" cy="1024128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25" name="TrendingUp circle"/>
          <p:cNvSpPr/>
          <p:nvPr/>
        </p:nvSpPr>
        <p:spPr>
          <a:xfrm>
            <a:off x="9180576" y="150876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6" name="TrendingUp icon" descr="TrendingUp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0304" y="1618488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729216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500" dirty="0"/>
          </a:p>
        </p:txBody>
      </p:sp>
      <p:pic>
        <p:nvPicPr>
          <p:cNvPr id="28" name="CircleCheck icon" descr="CircleCheck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9416" y="1554480"/>
            <a:ext cx="329184" cy="32918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9180576" y="195681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auto-scaling; a new university = one new syllabus file</a:t>
            </a:r>
            <a:endParaRPr lang="en-US" sz="1050" dirty="0"/>
          </a:p>
        </p:txBody>
      </p:sp>
      <p:sp>
        <p:nvSpPr>
          <p:cNvPr id="30" name="Text 20"/>
          <p:cNvSpPr txBox="1"/>
          <p:nvPr/>
        </p:nvSpPr>
        <p:spPr>
          <a:xfrm>
            <a:off x="457200" y="2560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CHALLENGES &amp; RISKS → STRATEGIES TO OVERCOME THEM</a:t>
            </a:r>
            <a:endParaRPr lang="en-US" sz="1200" dirty="0"/>
          </a:p>
        </p:txBody>
      </p:sp>
      <p:graphicFrame>
        <p:nvGraphicFramePr>
          <p:cNvPr id="6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74552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914400"/>
                <a:gridCol w="72054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/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6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gives wrong or low-quality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11D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“Review before use” label · teacher edits all output · strict JSON schema · template fallback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exam stress &amp; mental health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11D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B careers · human counsellors, not AI advice · Tele-MANAS 14416 helpline shown up front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internet &amp; low-end phones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11D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 mode (no images or animations) · offline installable PWA · lazy-loaded pages · audio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teacher accounts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verifies college + employee ID · only verified teachers can run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cheating or forgery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never sent to the browser · server grading · HMAC-SHA256 signature · public verify link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teacher adoption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free tries without login · Hindi · WhatsApp sharing · saves prep time from day 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Keeping syllabus data current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structured file per university · next: university &amp; teacher uploads, college partnerships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data privacy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Students join with class code + name only · no phone or email · API keys only on the server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YuvaNex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COMPOSITION &amp; ROLES</a:t>
            </a:r>
            <a:endParaRPr lang="en-US" sz="1200" dirty="0"/>
          </a:p>
        </p:txBody>
      </p:sp>
      <p:sp>
        <p:nvSpPr>
          <p:cNvPr id="6" name="member card"/>
          <p:cNvSpPr/>
          <p:nvPr/>
        </p:nvSpPr>
        <p:spPr>
          <a:xfrm>
            <a:off x="457200" y="1389888"/>
            <a:ext cx="548640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7" name="Crown circle"/>
          <p:cNvSpPr/>
          <p:nvPr/>
        </p:nvSpPr>
        <p:spPr>
          <a:xfrm>
            <a:off x="585216" y="1508760"/>
            <a:ext cx="457200" cy="457200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8" name="Crown icon" descr="Crow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6184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07008" y="14538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Divyansh Dubey</a:t>
            </a:r>
            <a:endParaRPr lang="en-US" sz="1400" dirty="0"/>
          </a:p>
        </p:txBody>
      </p:sp>
      <p:sp>
        <p:nvSpPr>
          <p:cNvPr id="10" name="role tag"/>
          <p:cNvSpPr/>
          <p:nvPr/>
        </p:nvSpPr>
        <p:spPr>
          <a:xfrm>
            <a:off x="3611880" y="1481328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4813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· Architecture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207008" y="176479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syllabus–skill mapping, testing, build idea &amp; core concepts</a:t>
            </a:r>
            <a:endParaRPr lang="en-US" sz="1050" dirty="0"/>
          </a:p>
        </p:txBody>
      </p:sp>
      <p:sp>
        <p:nvSpPr>
          <p:cNvPr id="13" name="member card"/>
          <p:cNvSpPr/>
          <p:nvPr/>
        </p:nvSpPr>
        <p:spPr>
          <a:xfrm>
            <a:off x="457200" y="2157984"/>
            <a:ext cx="548640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4" name="Palette circle"/>
          <p:cNvSpPr/>
          <p:nvPr/>
        </p:nvSpPr>
        <p:spPr>
          <a:xfrm>
            <a:off x="585216" y="2276856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15" name="Palette icon" descr="Palett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38658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207008" y="2221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Khushi Dubey</a:t>
            </a:r>
            <a:endParaRPr lang="en-US" sz="1400" dirty="0"/>
          </a:p>
        </p:txBody>
      </p:sp>
      <p:sp>
        <p:nvSpPr>
          <p:cNvPr id="17" name="role tag"/>
          <p:cNvSpPr/>
          <p:nvPr/>
        </p:nvSpPr>
        <p:spPr>
          <a:xfrm>
            <a:off x="3611880" y="2249424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611880" y="22494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UI/UX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207008" y="253288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screens, Hindi UI, Lite mode &amp; accessibility · presenter &amp; speaker</a:t>
            </a:r>
            <a:endParaRPr lang="en-US" sz="1050" dirty="0"/>
          </a:p>
        </p:txBody>
      </p:sp>
      <p:sp>
        <p:nvSpPr>
          <p:cNvPr id="20" name="member card"/>
          <p:cNvSpPr/>
          <p:nvPr/>
        </p:nvSpPr>
        <p:spPr>
          <a:xfrm>
            <a:off x="457200" y="2926080"/>
            <a:ext cx="548640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21" name="Bot circle"/>
          <p:cNvSpPr/>
          <p:nvPr/>
        </p:nvSpPr>
        <p:spPr>
          <a:xfrm>
            <a:off x="585216" y="3044952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22" name="Bot icon" descr="Bo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154680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207008" y="29900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Prakhar Porwal</a:t>
            </a:r>
            <a:endParaRPr lang="en-US" sz="1400" dirty="0"/>
          </a:p>
        </p:txBody>
      </p:sp>
      <p:sp>
        <p:nvSpPr>
          <p:cNvPr id="24" name="role tag"/>
          <p:cNvSpPr/>
          <p:nvPr/>
        </p:nvSpPr>
        <p:spPr>
          <a:xfrm>
            <a:off x="3611880" y="3017520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11880" y="3017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Backend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1207008" y="330098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prompts, quiz grading &amp; signed badges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630936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WE SOLVED</a:t>
            </a:r>
            <a:endParaRPr lang="en-US" sz="1200" dirty="0"/>
          </a:p>
        </p:txBody>
      </p:sp>
      <p:sp>
        <p:nvSpPr>
          <p:cNvPr id="28" name="KeyRound circle"/>
          <p:cNvSpPr/>
          <p:nvPr/>
        </p:nvSpPr>
        <p:spPr>
          <a:xfrm>
            <a:off x="6309360" y="1417320"/>
            <a:ext cx="347472" cy="34747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29" name="KeyRound icon" descr="KeyRoun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2753" y="1500713"/>
            <a:ext cx="180685" cy="180685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766560" y="13898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test answers secret in a web app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grading moved to the server + signed badges</a:t>
            </a:r>
            <a:endParaRPr lang="en-US" sz="1050" dirty="0"/>
          </a:p>
        </p:txBody>
      </p:sp>
      <p:sp>
        <p:nvSpPr>
          <p:cNvPr id="31" name="Bot circle"/>
          <p:cNvSpPr/>
          <p:nvPr/>
        </p:nvSpPr>
        <p:spPr>
          <a:xfrm>
            <a:off x="6309360" y="187452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32" name="Bot icon" descr="Bo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2753" y="1957913"/>
            <a:ext cx="180685" cy="18068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766560" y="18470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must never break a live class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strict JSON output + ready-made templates</a:t>
            </a:r>
            <a:endParaRPr lang="en-US" sz="1050" dirty="0"/>
          </a:p>
        </p:txBody>
      </p:sp>
      <p:sp>
        <p:nvSpPr>
          <p:cNvPr id="34" name="LifeBuoy circle"/>
          <p:cNvSpPr/>
          <p:nvPr/>
        </p:nvSpPr>
        <p:spPr>
          <a:xfrm>
            <a:off x="6309360" y="2331720"/>
            <a:ext cx="347472" cy="34747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35" name="LifeBuoy icon" descr="LifeBuoy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2753" y="2415113"/>
            <a:ext cx="180685" cy="18068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766560" y="23042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under exam pressure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 B careers + counsellors + Tele-MANAS helpline</a:t>
            </a:r>
            <a:endParaRPr lang="en-US" sz="1050" dirty="0"/>
          </a:p>
        </p:txBody>
      </p:sp>
      <p:sp>
        <p:nvSpPr>
          <p:cNvPr id="37" name="Route circle"/>
          <p:cNvSpPr/>
          <p:nvPr/>
        </p:nvSpPr>
        <p:spPr>
          <a:xfrm>
            <a:off x="6309360" y="278892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38" name="Route icon" descr="Rout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2753" y="2872313"/>
            <a:ext cx="180685" cy="180685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766560" y="27614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subjects &amp; syllabus to careers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24 courses, 22 exam routes, 45 skills × 13 roles</a:t>
            </a:r>
            <a:endParaRPr lang="en-US" sz="1050" dirty="0"/>
          </a:p>
        </p:txBody>
      </p:sp>
      <p:sp>
        <p:nvSpPr>
          <p:cNvPr id="40" name="UserCheck circle"/>
          <p:cNvSpPr/>
          <p:nvPr/>
        </p:nvSpPr>
        <p:spPr>
          <a:xfrm>
            <a:off x="6309360" y="3246120"/>
            <a:ext cx="347472" cy="347472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41" name="UserCheck icon" descr="UserCheck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2753" y="3329513"/>
            <a:ext cx="180685" cy="180685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6766560" y="3218688"/>
            <a:ext cx="4983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who is really a teacher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admin verification with college &amp; employee ID</a:t>
            </a:r>
            <a:endParaRPr lang="en-US" sz="1050" dirty="0"/>
          </a:p>
        </p:txBody>
      </p:sp>
      <p:sp>
        <p:nvSpPr>
          <p:cNvPr id="43" name="Text 33"/>
          <p:cNvSpPr txBox="1"/>
          <p:nvPr/>
        </p:nvSpPr>
        <p:spPr>
          <a:xfrm>
            <a:off x="457200" y="39319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JOURNEY</a:t>
            </a:r>
            <a:endParaRPr lang="en-US" sz="1200" dirty="0"/>
          </a:p>
        </p:txBody>
      </p:sp>
      <p:sp>
        <p:nvSpPr>
          <p:cNvPr id="44" name="timeline"/>
          <p:cNvSpPr/>
          <p:nvPr/>
        </p:nvSpPr>
        <p:spPr>
          <a:xfrm>
            <a:off x="1280160" y="4526280"/>
            <a:ext cx="9464040" cy="0"/>
          </a:xfrm>
          <a:prstGeom prst="line">
            <a:avLst/>
          </a:prstGeom>
          <a:noFill/>
          <a:ln w="38100">
            <a:solidFill>
              <a:srgbClr val="FED7AA"/>
            </a:solidFill>
            <a:prstDash val="solid"/>
          </a:ln>
        </p:spPr>
      </p:sp>
      <p:sp>
        <p:nvSpPr>
          <p:cNvPr id="45" name="milestone"/>
          <p:cNvSpPr/>
          <p:nvPr/>
        </p:nvSpPr>
        <p:spPr>
          <a:xfrm>
            <a:off x="1088136" y="4334256"/>
            <a:ext cx="384048" cy="384048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088136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7" name="journey card"/>
          <p:cNvSpPr/>
          <p:nvPr/>
        </p:nvSpPr>
        <p:spPr>
          <a:xfrm>
            <a:off x="457200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548640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Student-life MVP</a:t>
            </a:r>
            <a:endParaRPr lang="en-US" sz="1200" dirty="0"/>
          </a:p>
        </p:txBody>
      </p:sp>
      <p:sp>
        <p:nvSpPr>
          <p:cNvPr id="49" name="Text 39"/>
          <p:cNvSpPr txBox="1"/>
          <p:nvPr/>
        </p:nvSpPr>
        <p:spPr>
          <a:xfrm>
            <a:off x="548640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Hostels, tiffin, colleges, local connect</a:t>
            </a:r>
            <a:endParaRPr lang="en-US" sz="1150" dirty="0"/>
          </a:p>
        </p:txBody>
      </p:sp>
      <p:sp>
        <p:nvSpPr>
          <p:cNvPr id="50" name="milestone"/>
          <p:cNvSpPr/>
          <p:nvPr/>
        </p:nvSpPr>
        <p:spPr>
          <a:xfrm>
            <a:off x="2980944" y="4334256"/>
            <a:ext cx="384048" cy="384048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298094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52" name="journey card"/>
          <p:cNvSpPr/>
          <p:nvPr/>
        </p:nvSpPr>
        <p:spPr>
          <a:xfrm>
            <a:off x="2350008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2441448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the problem</a:t>
            </a:r>
            <a:endParaRPr lang="en-US" sz="1200" dirty="0"/>
          </a:p>
        </p:txBody>
      </p:sp>
      <p:sp>
        <p:nvSpPr>
          <p:cNvPr id="54" name="Text 44"/>
          <p:cNvSpPr txBox="1"/>
          <p:nvPr/>
        </p:nvSpPr>
        <p:spPr>
          <a:xfrm>
            <a:off x="2441448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Pivoted to learning-first; life support kept optional</a:t>
            </a:r>
            <a:endParaRPr lang="en-US" sz="1150" dirty="0"/>
          </a:p>
        </p:txBody>
      </p:sp>
      <p:sp>
        <p:nvSpPr>
          <p:cNvPr id="55" name="milestone"/>
          <p:cNvSpPr/>
          <p:nvPr/>
        </p:nvSpPr>
        <p:spPr>
          <a:xfrm>
            <a:off x="4873752" y="4334256"/>
            <a:ext cx="384048" cy="384048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4873752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journey card"/>
          <p:cNvSpPr/>
          <p:nvPr/>
        </p:nvSpPr>
        <p:spPr>
          <a:xfrm>
            <a:off x="4242816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4334256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 Skill Bridge</a:t>
            </a:r>
            <a:endParaRPr lang="en-US" sz="1200" dirty="0"/>
          </a:p>
        </p:txBody>
      </p:sp>
      <p:sp>
        <p:nvSpPr>
          <p:cNvPr id="59" name="Text 49"/>
          <p:cNvSpPr txBox="1"/>
          <p:nvPr/>
        </p:nvSpPr>
        <p:spPr>
          <a:xfrm>
            <a:off x="4334256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map, personal plan, verified badges</a:t>
            </a:r>
            <a:endParaRPr lang="en-US" sz="1150" dirty="0"/>
          </a:p>
        </p:txBody>
      </p:sp>
      <p:sp>
        <p:nvSpPr>
          <p:cNvPr id="60" name="milestone"/>
          <p:cNvSpPr/>
          <p:nvPr/>
        </p:nvSpPr>
        <p:spPr>
          <a:xfrm>
            <a:off x="6766560" y="4334256"/>
            <a:ext cx="384048" cy="384048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676656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2" name="journey card"/>
          <p:cNvSpPr/>
          <p:nvPr/>
        </p:nvSpPr>
        <p:spPr>
          <a:xfrm>
            <a:off x="6135624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63" name="Text 53"/>
          <p:cNvSpPr txBox="1"/>
          <p:nvPr/>
        </p:nvSpPr>
        <p:spPr>
          <a:xfrm>
            <a:off x="6227064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Copilot</a:t>
            </a:r>
            <a:endParaRPr lang="en-US" sz="1200" dirty="0"/>
          </a:p>
        </p:txBody>
      </p:sp>
      <p:sp>
        <p:nvSpPr>
          <p:cNvPr id="64" name="Text 54"/>
          <p:cNvSpPr txBox="1"/>
          <p:nvPr/>
        </p:nvSpPr>
        <p:spPr>
          <a:xfrm>
            <a:off x="6227064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Lessons, papers, quizzes, class heatmap</a:t>
            </a:r>
            <a:endParaRPr lang="en-US" sz="1150" dirty="0"/>
          </a:p>
        </p:txBody>
      </p:sp>
      <p:sp>
        <p:nvSpPr>
          <p:cNvPr id="65" name="milestone"/>
          <p:cNvSpPr/>
          <p:nvPr/>
        </p:nvSpPr>
        <p:spPr>
          <a:xfrm>
            <a:off x="8659368" y="4334256"/>
            <a:ext cx="384048" cy="384048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6" name="Text 56"/>
          <p:cNvSpPr txBox="1"/>
          <p:nvPr/>
        </p:nvSpPr>
        <p:spPr>
          <a:xfrm>
            <a:off x="86593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journey card"/>
          <p:cNvSpPr/>
          <p:nvPr/>
        </p:nvSpPr>
        <p:spPr>
          <a:xfrm>
            <a:off x="8028432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8" name="Text 58"/>
          <p:cNvSpPr txBox="1"/>
          <p:nvPr/>
        </p:nvSpPr>
        <p:spPr>
          <a:xfrm>
            <a:off x="8119872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Study-to-job</a:t>
            </a:r>
            <a:endParaRPr lang="en-US" sz="1200" dirty="0"/>
          </a:p>
        </p:txBody>
      </p:sp>
      <p:sp>
        <p:nvSpPr>
          <p:cNvPr id="69" name="Text 59"/>
          <p:cNvSpPr txBox="1"/>
          <p:nvPr/>
        </p:nvSpPr>
        <p:spPr>
          <a:xfrm>
            <a:off x="8119872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Pathways, counseling, matched jobs, SIDF funding</a:t>
            </a:r>
            <a:endParaRPr lang="en-US" sz="1150" dirty="0"/>
          </a:p>
        </p:txBody>
      </p:sp>
      <p:sp>
        <p:nvSpPr>
          <p:cNvPr id="70" name="milestone"/>
          <p:cNvSpPr/>
          <p:nvPr/>
        </p:nvSpPr>
        <p:spPr>
          <a:xfrm>
            <a:off x="10552176" y="4334256"/>
            <a:ext cx="384048" cy="384048"/>
          </a:xfrm>
          <a:prstGeom prst="ellipse">
            <a:avLst/>
          </a:prstGeom>
          <a:solidFill>
            <a:srgbClr val="16A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10552176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72" name="journey card"/>
          <p:cNvSpPr/>
          <p:nvPr/>
        </p:nvSpPr>
        <p:spPr>
          <a:xfrm>
            <a:off x="9921240" y="4846320"/>
            <a:ext cx="1645920" cy="1280160"/>
          </a:xfrm>
          <a:prstGeom prst="roundRect">
            <a:avLst>
              <a:gd name="adj" fmla="val 8571"/>
            </a:avLst>
          </a:prstGeom>
          <a:solidFill>
            <a:srgbClr val="FFF4EB"/>
          </a:solidFill>
          <a:ln w="12700">
            <a:solidFill>
              <a:srgbClr val="FFF4EB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10012680" y="4919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launch</a:t>
            </a:r>
            <a:endParaRPr lang="en-US" sz="1200" dirty="0"/>
          </a:p>
        </p:txBody>
      </p:sp>
      <p:sp>
        <p:nvSpPr>
          <p:cNvPr id="74" name="Text 64"/>
          <p:cNvSpPr txBox="1"/>
          <p:nvPr/>
        </p:nvSpPr>
        <p:spPr>
          <a:xfrm>
            <a:off x="10012680" y="5394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verification, Hindi, offline — live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103120" y="201168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3" name="Team name oval"/>
          <p:cNvSpPr/>
          <p:nvPr/>
        </p:nvSpPr>
        <p:spPr>
          <a:xfrm>
            <a:off x="201168" y="146304"/>
            <a:ext cx="1645920" cy="822960"/>
          </a:xfrm>
          <a:prstGeom prst="ellipse">
            <a:avLst/>
          </a:prstGeom>
          <a:solidFill>
            <a:srgbClr val="F9C08F"/>
          </a:solidFill>
          <a:ln w="9525">
            <a:solidFill>
              <a:srgbClr val="F0A868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246888" y="1463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YuvaNex</a:t>
            </a:r>
            <a:endParaRPr lang="en-US" sz="1300" dirty="0"/>
          </a:p>
        </p:txBody>
      </p:sp>
      <p:sp>
        <p:nvSpPr>
          <p:cNvPr id="5" name="reference card"/>
          <p:cNvSpPr/>
          <p:nvPr/>
        </p:nvSpPr>
        <p:spPr>
          <a:xfrm>
            <a:off x="457200" y="1234440"/>
            <a:ext cx="365760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6" name="ChartColumn circle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</p:spPr>
      </p:sp>
      <p:pic>
        <p:nvPicPr>
          <p:cNvPr id="7" name="ChartColumn icon" descr="ChartColum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81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13716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research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9385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Skills Report 2025 (CII, Wheebox, AICTE)</a:t>
            </a:r>
            <a:endParaRPr lang="en-US" sz="1150" dirty="0"/>
          </a:p>
        </p:txBody>
      </p:sp>
      <p:sp>
        <p:nvSpPr>
          <p:cNvPr id="10" name="Text 7">
            <a:hlinkClick r:id="rId2" tooltip=""/>
          </p:cNvPr>
          <p:cNvSpPr txBox="1"/>
          <p:nvPr/>
        </p:nvSpPr>
        <p:spPr>
          <a:xfrm>
            <a:off x="685800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taggd.in/industry-reports/isr/india-skills-report-2025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AISHE 2021-22, Ministry of Education</a:t>
            </a:r>
            <a:endParaRPr lang="en-US" sz="1150" dirty="0"/>
          </a:p>
        </p:txBody>
      </p:sp>
      <p:sp>
        <p:nvSpPr>
          <p:cNvPr id="12" name="Text 9">
            <a:hlinkClick r:id="rId3" tooltip=""/>
          </p:cNvPr>
          <p:cNvSpPr txBox="1"/>
          <p:nvPr/>
        </p:nvSpPr>
        <p:spPr>
          <a:xfrm>
            <a:off x="685800" y="28895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aishe.gov.in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91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Labour Force Survey, MoSPI</a:t>
            </a:r>
            <a:endParaRPr lang="en-US" sz="1150" dirty="0"/>
          </a:p>
        </p:txBody>
      </p:sp>
      <p:sp>
        <p:nvSpPr>
          <p:cNvPr id="14" name="Text 11">
            <a:hlinkClick r:id="rId4" tooltip=""/>
          </p:cNvPr>
          <p:cNvSpPr txBox="1"/>
          <p:nvPr/>
        </p:nvSpPr>
        <p:spPr>
          <a:xfrm>
            <a:off x="685800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mospi.gov.in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9684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Education Policy 2020</a:t>
            </a:r>
            <a:endParaRPr lang="en-US" sz="1150" dirty="0"/>
          </a:p>
        </p:txBody>
      </p:sp>
      <p:sp>
        <p:nvSpPr>
          <p:cNvPr id="16" name="Text 13">
            <a:hlinkClick r:id="rId5" tooltip=""/>
          </p:cNvPr>
          <p:cNvSpPr txBox="1"/>
          <p:nvPr/>
        </p:nvSpPr>
        <p:spPr>
          <a:xfrm>
            <a:off x="685800" y="424281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education.gov.in — NEP 2020</a:t>
            </a:r>
            <a:endParaRPr lang="en-US" sz="1050" dirty="0"/>
          </a:p>
        </p:txBody>
      </p:sp>
      <p:sp>
        <p:nvSpPr>
          <p:cNvPr id="17" name="reference card"/>
          <p:cNvSpPr/>
          <p:nvPr/>
        </p:nvSpPr>
        <p:spPr>
          <a:xfrm>
            <a:off x="4265676" y="1234440"/>
            <a:ext cx="365760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18" name="Landmark circle"/>
          <p:cNvSpPr/>
          <p:nvPr/>
        </p:nvSpPr>
        <p:spPr>
          <a:xfrm>
            <a:off x="4448556" y="1371600"/>
            <a:ext cx="457200" cy="4572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19" name="Landmark icon" descr="Landmar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8284" y="148132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015484" y="13716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platforms we link to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494276" y="19385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NTA: JEE Main, NEET UG, CUET UG</a:t>
            </a:r>
            <a:endParaRPr lang="en-US" sz="1150" dirty="0"/>
          </a:p>
        </p:txBody>
      </p:sp>
      <p:sp>
        <p:nvSpPr>
          <p:cNvPr id="22" name="Text 18">
            <a:hlinkClick r:id="rId7" tooltip=""/>
          </p:cNvPr>
          <p:cNvSpPr txBox="1"/>
          <p:nvPr/>
        </p:nvSpPr>
        <p:spPr>
          <a:xfrm>
            <a:off x="4494276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nta.ac.in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494276" y="2487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JoSAA &amp; MCC counselling</a:t>
            </a:r>
            <a:endParaRPr lang="en-US" sz="1150" dirty="0"/>
          </a:p>
        </p:txBody>
      </p:sp>
      <p:sp>
        <p:nvSpPr>
          <p:cNvPr id="24" name="Text 20">
            <a:hlinkClick r:id="rId8" tooltip=""/>
          </p:cNvPr>
          <p:cNvSpPr txBox="1"/>
          <p:nvPr/>
        </p:nvSpPr>
        <p:spPr>
          <a:xfrm>
            <a:off x="4494276" y="2761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josaa.nic.in · mcc.nic.in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4494276" y="30358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Tele-MANAS mental-health helpline</a:t>
            </a:r>
            <a:endParaRPr lang="en-US" sz="1150" dirty="0"/>
          </a:p>
        </p:txBody>
      </p:sp>
      <p:sp>
        <p:nvSpPr>
          <p:cNvPr id="26" name="Text 22">
            <a:hlinkClick r:id="rId9" tooltip=""/>
          </p:cNvPr>
          <p:cNvSpPr txBox="1"/>
          <p:nvPr/>
        </p:nvSpPr>
        <p:spPr>
          <a:xfrm>
            <a:off x="4494276" y="33101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telemanas.mohfw.gov.in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4494276" y="3584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India Seed Fund Scheme</a:t>
            </a:r>
            <a:endParaRPr lang="en-US" sz="1150" dirty="0"/>
          </a:p>
        </p:txBody>
      </p:sp>
      <p:sp>
        <p:nvSpPr>
          <p:cNvPr id="28" name="Text 24">
            <a:hlinkClick r:id="rId10" tooltip=""/>
          </p:cNvPr>
          <p:cNvSpPr txBox="1"/>
          <p:nvPr/>
        </p:nvSpPr>
        <p:spPr>
          <a:xfrm>
            <a:off x="4494276" y="38587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seedfund.startupindia.gov.in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4494276" y="4133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India Digital Hub</a:t>
            </a:r>
            <a:endParaRPr lang="en-US" sz="1150" dirty="0"/>
          </a:p>
        </p:txBody>
      </p:sp>
      <p:sp>
        <p:nvSpPr>
          <p:cNvPr id="30" name="Text 26">
            <a:hlinkClick r:id="rId11" tooltip=""/>
          </p:cNvPr>
          <p:cNvSpPr txBox="1"/>
          <p:nvPr/>
        </p:nvSpPr>
        <p:spPr>
          <a:xfrm>
            <a:off x="4494276" y="44074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skillindiadigital.gov.in</a:t>
            </a:r>
            <a:endParaRPr lang="en-US" sz="1050" dirty="0"/>
          </a:p>
        </p:txBody>
      </p:sp>
      <p:sp>
        <p:nvSpPr>
          <p:cNvPr id="31" name="reference card"/>
          <p:cNvSpPr/>
          <p:nvPr/>
        </p:nvSpPr>
        <p:spPr>
          <a:xfrm>
            <a:off x="8074152" y="1234440"/>
            <a:ext cx="365760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32" name="Code circle"/>
          <p:cNvSpPr/>
          <p:nvPr/>
        </p:nvSpPr>
        <p:spPr>
          <a:xfrm>
            <a:off x="8257032" y="137160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3" name="Code icon" descr="Code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66760" y="1481328"/>
            <a:ext cx="237744" cy="237744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823960" y="13716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documentation</a:t>
            </a:r>
            <a:endParaRPr lang="en-US" sz="140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19385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</a:t>
            </a:r>
            <a:endParaRPr lang="en-US" sz="1150" dirty="0"/>
          </a:p>
        </p:txBody>
      </p:sp>
      <p:sp>
        <p:nvSpPr>
          <p:cNvPr id="36" name="Text 31">
            <a:hlinkClick r:id="rId13" tooltip=""/>
          </p:cNvPr>
          <p:cNvSpPr txBox="1"/>
          <p:nvPr/>
        </p:nvSpPr>
        <p:spPr>
          <a:xfrm>
            <a:off x="8302752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ai.google.dev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8302752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Functions &amp; Blobs</a:t>
            </a:r>
            <a:endParaRPr lang="en-US" sz="1150" dirty="0"/>
          </a:p>
        </p:txBody>
      </p:sp>
      <p:sp>
        <p:nvSpPr>
          <p:cNvPr id="38" name="Text 33">
            <a:hlinkClick r:id="rId14" tooltip=""/>
          </p:cNvPr>
          <p:cNvSpPr txBox="1"/>
          <p:nvPr/>
        </p:nvSpPr>
        <p:spPr>
          <a:xfrm>
            <a:off x="8302752" y="28895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docs.netlify.com</a:t>
            </a:r>
            <a:endParaRPr lang="en-US" sz="1050" dirty="0"/>
          </a:p>
        </p:txBody>
      </p:sp>
      <p:sp>
        <p:nvSpPr>
          <p:cNvPr id="39" name="Text 34"/>
          <p:cNvSpPr txBox="1"/>
          <p:nvPr/>
        </p:nvSpPr>
        <p:spPr>
          <a:xfrm>
            <a:off x="8302752" y="3291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Tailwind CSS</a:t>
            </a:r>
            <a:endParaRPr lang="en-US" sz="1150" dirty="0"/>
          </a:p>
        </p:txBody>
      </p:sp>
      <p:sp>
        <p:nvSpPr>
          <p:cNvPr id="40" name="Text 35">
            <a:hlinkClick r:id="rId15" tooltip=""/>
          </p:cNvPr>
          <p:cNvSpPr txBox="1"/>
          <p:nvPr/>
        </p:nvSpPr>
        <p:spPr>
          <a:xfrm>
            <a:off x="8302752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react.dev · vite.dev · tailwindcss.com</a:t>
            </a:r>
            <a:endParaRPr lang="en-US" sz="1050" dirty="0"/>
          </a:p>
        </p:txBody>
      </p:sp>
      <p:sp>
        <p:nvSpPr>
          <p:cNvPr id="41" name="Text 36"/>
          <p:cNvSpPr txBox="1"/>
          <p:nvPr/>
        </p:nvSpPr>
        <p:spPr>
          <a:xfrm>
            <a:off x="8302752" y="39684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 &amp; PWAs (MDN)</a:t>
            </a:r>
            <a:endParaRPr lang="en-US" sz="1150" dirty="0"/>
          </a:p>
        </p:txBody>
      </p:sp>
      <p:sp>
        <p:nvSpPr>
          <p:cNvPr id="42" name="Text 37">
            <a:hlinkClick r:id="rId16" tooltip=""/>
          </p:cNvPr>
          <p:cNvSpPr txBox="1"/>
          <p:nvPr/>
        </p:nvSpPr>
        <p:spPr>
          <a:xfrm>
            <a:off x="8302752" y="424281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developer.mozilla.org</a:t>
            </a:r>
            <a:endParaRPr lang="en-US" sz="1050" dirty="0"/>
          </a:p>
        </p:txBody>
      </p:sp>
      <p:sp>
        <p:nvSpPr>
          <p:cNvPr id="43" name="project strip"/>
          <p:cNvSpPr/>
          <p:nvPr/>
        </p:nvSpPr>
        <p:spPr>
          <a:xfrm>
            <a:off x="457200" y="4937760"/>
            <a:ext cx="11274552" cy="1353312"/>
          </a:xfrm>
          <a:prstGeom prst="roundRect">
            <a:avLst>
              <a:gd name="adj" fmla="val 9459"/>
            </a:avLst>
          </a:prstGeom>
          <a:solidFill>
            <a:srgbClr val="1F2A6E"/>
          </a:solidFill>
          <a:ln w="12700">
            <a:solidFill>
              <a:srgbClr val="1F2A6E"/>
            </a:solidFill>
            <a:prstDash val="solid"/>
          </a:ln>
          <a:effectLst>
            <a:outerShdw sx="100000" sy="100000" kx="0" ky="0" algn="bl" rotWithShape="0" blurRad="127000" dist="25400" dir="5400000">
              <a:srgbClr val="1F2A6E">
                <a:alpha val="14000"/>
              </a:srgbClr>
            </a:outerShdw>
          </a:effectLst>
        </p:spPr>
      </p:sp>
      <p:sp>
        <p:nvSpPr>
          <p:cNvPr id="44" name="Text 39"/>
          <p:cNvSpPr txBox="1"/>
          <p:nvPr/>
        </p:nvSpPr>
        <p:spPr>
          <a:xfrm>
            <a:off x="73152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</a:t>
            </a:r>
            <a:endParaRPr lang="en-US" sz="1800" dirty="0"/>
          </a:p>
        </p:txBody>
      </p:sp>
      <p:pic>
        <p:nvPicPr>
          <p:cNvPr id="45" name="Globe icon" descr="Globe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9808" y="5495544"/>
            <a:ext cx="182880" cy="18288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1024128" y="5468112"/>
            <a:ext cx="6126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studentsetuconnect.netlify.app</a:t>
            </a:r>
            <a:endParaRPr lang="en-US" sz="1150" dirty="0"/>
          </a:p>
        </p:txBody>
      </p:sp>
      <p:pic>
        <p:nvPicPr>
          <p:cNvPr id="47" name="Github icon" descr="Github icon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9808" y="5760720"/>
            <a:ext cx="182880" cy="182880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1024128" y="5733288"/>
            <a:ext cx="6126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 </a:t>
            </a:r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github.com/prakharporwal518-collab/Student-Setu</a:t>
            </a:r>
            <a:endParaRPr lang="en-US" sz="1150" dirty="0"/>
          </a:p>
        </p:txBody>
      </p:sp>
      <p:pic>
        <p:nvPicPr>
          <p:cNvPr id="49" name="CirclePlay icon" descr="CirclePlay icon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9808" y="6025896"/>
            <a:ext cx="182880" cy="182880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1024128" y="5998464"/>
            <a:ext cx="6126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Student_Setu_Demo_Video.mp4 (GitHub)</a:t>
            </a:r>
            <a:endParaRPr lang="en-US" sz="1150" dirty="0"/>
          </a:p>
        </p:txBody>
      </p:sp>
      <p:pic>
        <p:nvPicPr>
          <p:cNvPr id="51" name="qr Demo video" descr="QR code: Demo video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360920" y="5029200"/>
            <a:ext cx="914400" cy="914400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7178040" y="5971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050" dirty="0"/>
          </a:p>
        </p:txBody>
      </p:sp>
      <p:pic>
        <p:nvPicPr>
          <p:cNvPr id="53" name="qr Live demo" descr="QR code: Live demo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778240" y="5029200"/>
            <a:ext cx="914400" cy="914400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8595360" y="5971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pic>
        <p:nvPicPr>
          <p:cNvPr id="55" name="qr GitHub" descr="QR code: GitHub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195560" y="5029200"/>
            <a:ext cx="914400" cy="914400"/>
          </a:xfrm>
          <a:prstGeom prst="rect">
            <a:avLst/>
          </a:prstGeom>
        </p:spPr>
      </p:pic>
      <p:sp>
        <p:nvSpPr>
          <p:cNvPr id="56" name="Text 45"/>
          <p:cNvSpPr txBox="1"/>
          <p:nvPr/>
        </p:nvSpPr>
        <p:spPr>
          <a:xfrm>
            <a:off x="10012680" y="5971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ent Setu">
  <a:themeElements>
    <a:clrScheme name="Student Setu">
      <a:dk1>
        <a:srgbClr val="0F172A"/>
      </a:dk1>
      <a:lt1>
        <a:srgbClr val="FFFFFF"/>
      </a:lt1>
      <a:dk2>
        <a:srgbClr val="1F2A6E"/>
      </a:dk2>
      <a:lt2>
        <a:srgbClr val="EEF2FF"/>
      </a:lt2>
      <a:accent1>
        <a:srgbClr val="F97316"/>
      </a:accent1>
      <a:accent2>
        <a:srgbClr val="16A34A"/>
      </a:accent2>
      <a:accent3>
        <a:srgbClr val="E11D48"/>
      </a:accent3>
      <a:accent4>
        <a:srgbClr val="D97706"/>
      </a:accent4>
      <a:accent5>
        <a:srgbClr val="4F46E5"/>
      </a:accent5>
      <a:accent6>
        <a:srgbClr val="0D9488"/>
      </a:accent6>
      <a:hlink>
        <a:srgbClr val="4F46E5"/>
      </a:hlink>
      <a:folHlink>
        <a:srgbClr val="6D28D9"/>
      </a:folHlink>
    </a:clrScheme>
    <a:fontScheme name="Student Setu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Setu — HSC Hackathon</dc:title>
  <dc:subject>PptxGenJS Presentation</dc:subject>
  <dc:creator>Student Setu team</dc:creator>
  <cp:lastModifiedBy>Student Setu team</cp:lastModifiedBy>
  <cp:revision>1</cp:revision>
  <dcterms:created xsi:type="dcterms:W3CDTF">2026-10-25T14:12:56Z</dcterms:created>
  <dcterms:modified xsi:type="dcterms:W3CDTF">2026-10-25T14:12:56Z</dcterms:modified>
</cp:coreProperties>
</file>